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12"/>
    <p:sldId id="257" r:id="rId11"/>
    <p:sldId id="258" r:id="rId10"/>
    <p:sldId id="259" r:id="rId9"/>
    <p:sldId id="260" r:id="rId8"/>
    <p:sldId id="261" r:id="rId7"/>
    <p:sldId id="262" r:id="rId6"/>
  </p:sldIdLst>
  <p:sldSz cy="10287000" cx="18288000"/>
  <p:notesSz cx="6858000" cy="9144000"/>
  <p:embeddedFontLst>
    <p:embeddedFont>
      <p:font typeface="Poppins"/>
      <p:regular r:id="rId13"/>
      <p:bold r:id="rId14"/>
      <p:italic r:id="rId15"/>
      <p:boldItalic r:id="rId16"/>
    </p:embeddedFont>
    <p:embeddedFont>
      <p:font typeface="Poppins Medium"/>
      <p:regular r:id="rId17"/>
      <p:bold r:id="rId18"/>
      <p:italic r:id="rId19"/>
      <p:boldItalic r:id="rId20"/>
    </p:embeddedFont>
    <p:embeddedFont>
      <p:font typeface="Poppins SemiBold"/>
      <p:regular r:id="rId21"/>
      <p:bold r:id="rId22"/>
      <p:italic r:id="rId23"/>
      <p:boldItalic r:id="rId24"/>
    </p:embeddedFont>
    <p:embeddedFont>
      <p:font typeface="Poppins ExtraBold"/>
      <p:bold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760">
          <p15:clr>
            <a:srgbClr val="747775"/>
          </p15:clr>
        </p15:guide>
        <p15:guide id="2" orient="horz" pos="3240">
          <p15:clr>
            <a:srgbClr val="747775"/>
          </p15:clr>
        </p15:guide>
      </p15:sldGuideLst>
    </p:ext>
    <p:ext uri="GoogleSlidesCustomDataVersion2">
      <go:slidesCustomData xmlns:go="http://customooxmlschemas.google.com/" r:id="rId27" roundtripDataSignature="AMtx7mikcC1XCQqB7SploIcIGk0JnEciC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7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slide" Target="slides/slide1.xml"/><Relationship Id="rId13" Type="http://schemas.openxmlformats.org/officeDocument/2006/relationships/font" Target="fonts/Poppins-regular.fntdata"/><Relationship Id="rId14" Type="http://schemas.openxmlformats.org/officeDocument/2006/relationships/font" Target="fonts/Poppins-bold.fntdata"/><Relationship Id="rId15" Type="http://schemas.openxmlformats.org/officeDocument/2006/relationships/font" Target="fonts/Poppins-italic.fntdata"/><Relationship Id="rId16" Type="http://schemas.openxmlformats.org/officeDocument/2006/relationships/font" Target="fonts/Poppins-boldItalic.fntdata"/><Relationship Id="rId17" Type="http://schemas.openxmlformats.org/officeDocument/2006/relationships/font" Target="fonts/PoppinsMedium-regular.fntdata"/><Relationship Id="rId18" Type="http://schemas.openxmlformats.org/officeDocument/2006/relationships/font" Target="fonts/PoppinsMedium-bold.fntdata"/><Relationship Id="rId19" Type="http://schemas.openxmlformats.org/officeDocument/2006/relationships/font" Target="fonts/PoppinsMedium-italic.fntdata"/><Relationship Id="rId20" Type="http://schemas.openxmlformats.org/officeDocument/2006/relationships/font" Target="fonts/PoppinsMedium-boldItalic.fntdata"/><Relationship Id="rId21" Type="http://schemas.openxmlformats.org/officeDocument/2006/relationships/font" Target="fonts/PoppinsSemiBold-regular.fntdata"/><Relationship Id="rId22" Type="http://schemas.openxmlformats.org/officeDocument/2006/relationships/font" Target="fonts/PoppinsSemiBold-bold.fntdata"/><Relationship Id="rId23" Type="http://schemas.openxmlformats.org/officeDocument/2006/relationships/font" Target="fonts/PoppinsSemiBold-italic.fntdata"/><Relationship Id="rId24" Type="http://schemas.openxmlformats.org/officeDocument/2006/relationships/font" Target="fonts/PoppinsSemiBold-boldItalic.fntdata"/><Relationship Id="rId25" Type="http://schemas.openxmlformats.org/officeDocument/2006/relationships/font" Target="fonts/PoppinsExtraBold-bold.fntdata"/><Relationship Id="rId26" Type="http://schemas.openxmlformats.org/officeDocument/2006/relationships/font" Target="fonts/PoppinsExtraBold-boldItalic.fntdata"/><Relationship Id="rId2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ctrTitle"/>
          </p:nvPr>
        </p:nvSpPr>
        <p:spPr>
          <a:xfrm>
            <a:off x="623417" y="1489150"/>
            <a:ext cx="17041200" cy="41052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400"/>
              <a:buNone/>
              <a:defRPr sz="10400"/>
            </a:lvl9pPr>
          </a:lstStyle>
          <a:p/>
        </p:txBody>
      </p:sp>
      <p:sp>
        <p:nvSpPr>
          <p:cNvPr id="11" name="Google Shape;11;p10"/>
          <p:cNvSpPr txBox="1"/>
          <p:nvPr>
            <p:ph idx="1" type="subTitle"/>
          </p:nvPr>
        </p:nvSpPr>
        <p:spPr>
          <a:xfrm>
            <a:off x="623400" y="5668250"/>
            <a:ext cx="17041200" cy="15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12" name="Google Shape;12;p1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15" name="Google Shape;15;p11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16" name="Google Shape;16;p1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2"/>
          <p:cNvSpPr txBox="1"/>
          <p:nvPr>
            <p:ph type="title"/>
          </p:nvPr>
        </p:nvSpPr>
        <p:spPr>
          <a:xfrm>
            <a:off x="623400" y="4301700"/>
            <a:ext cx="17041200" cy="168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9pPr>
          </a:lstStyle>
          <a:p/>
        </p:txBody>
      </p:sp>
      <p:sp>
        <p:nvSpPr>
          <p:cNvPr id="19" name="Google Shape;19;p12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3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2" name="Google Shape;22;p13"/>
          <p:cNvSpPr txBox="1"/>
          <p:nvPr>
            <p:ph idx="1" type="body"/>
          </p:nvPr>
        </p:nvSpPr>
        <p:spPr>
          <a:xfrm>
            <a:off x="6234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3" name="Google Shape;23;p13"/>
          <p:cNvSpPr txBox="1"/>
          <p:nvPr>
            <p:ph idx="2" type="body"/>
          </p:nvPr>
        </p:nvSpPr>
        <p:spPr>
          <a:xfrm>
            <a:off x="9664800" y="2304950"/>
            <a:ext cx="79998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064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 sz="28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24" name="Google Shape;24;p13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4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7" name="Google Shape;27;p14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5"/>
          <p:cNvSpPr txBox="1"/>
          <p:nvPr>
            <p:ph type="title"/>
          </p:nvPr>
        </p:nvSpPr>
        <p:spPr>
          <a:xfrm>
            <a:off x="623400" y="1111200"/>
            <a:ext cx="56160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0" name="Google Shape;30;p15"/>
          <p:cNvSpPr txBox="1"/>
          <p:nvPr>
            <p:ph idx="1" type="body"/>
          </p:nvPr>
        </p:nvSpPr>
        <p:spPr>
          <a:xfrm>
            <a:off x="623400" y="2779200"/>
            <a:ext cx="5616000" cy="6358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/>
        </p:txBody>
      </p:sp>
      <p:sp>
        <p:nvSpPr>
          <p:cNvPr id="31" name="Google Shape;31;p15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6"/>
          <p:cNvSpPr txBox="1"/>
          <p:nvPr>
            <p:ph type="title"/>
          </p:nvPr>
        </p:nvSpPr>
        <p:spPr>
          <a:xfrm>
            <a:off x="980500" y="900300"/>
            <a:ext cx="12735600" cy="818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/>
        </p:txBody>
      </p:sp>
      <p:sp>
        <p:nvSpPr>
          <p:cNvPr id="34" name="Google Shape;34;p16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7"/>
          <p:cNvSpPr/>
          <p:nvPr/>
        </p:nvSpPr>
        <p:spPr>
          <a:xfrm>
            <a:off x="9144000" y="-250"/>
            <a:ext cx="9144000" cy="10287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7"/>
          <p:cNvSpPr txBox="1"/>
          <p:nvPr>
            <p:ph type="title"/>
          </p:nvPr>
        </p:nvSpPr>
        <p:spPr>
          <a:xfrm>
            <a:off x="531000" y="2466350"/>
            <a:ext cx="8090400" cy="29646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400"/>
              <a:buNone/>
              <a:defRPr sz="8400"/>
            </a:lvl9pPr>
          </a:lstStyle>
          <a:p/>
        </p:txBody>
      </p:sp>
      <p:sp>
        <p:nvSpPr>
          <p:cNvPr id="38" name="Google Shape;38;p17"/>
          <p:cNvSpPr txBox="1"/>
          <p:nvPr>
            <p:ph idx="1" type="subTitle"/>
          </p:nvPr>
        </p:nvSpPr>
        <p:spPr>
          <a:xfrm>
            <a:off x="531000" y="5606150"/>
            <a:ext cx="8090400" cy="24702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7"/>
          <p:cNvSpPr txBox="1"/>
          <p:nvPr>
            <p:ph idx="2" type="body"/>
          </p:nvPr>
        </p:nvSpPr>
        <p:spPr>
          <a:xfrm>
            <a:off x="9879000" y="1448150"/>
            <a:ext cx="7674000" cy="739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4572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0" name="Google Shape;40;p17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623400" y="8461150"/>
            <a:ext cx="11997600" cy="121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</a:lstStyle>
          <a:p/>
        </p:txBody>
      </p:sp>
      <p:sp>
        <p:nvSpPr>
          <p:cNvPr id="43" name="Google Shape;43;p18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/>
          <p:nvPr>
            <p:ph hasCustomPrompt="1" type="title"/>
          </p:nvPr>
        </p:nvSpPr>
        <p:spPr>
          <a:xfrm>
            <a:off x="623400" y="2212250"/>
            <a:ext cx="17041200" cy="3927000"/>
          </a:xfrm>
          <a:prstGeom prst="rect">
            <a:avLst/>
          </a:prstGeom>
          <a:noFill/>
          <a:ln>
            <a:noFill/>
          </a:ln>
        </p:spPr>
        <p:txBody>
          <a:bodyPr anchorCtr="0" anchor="b" bIns="182850" lIns="182850" spcFirstLastPara="1" rIns="182850" wrap="square" tIns="18285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0"/>
              <a:buNone/>
              <a:defRPr sz="24000"/>
            </a:lvl9pPr>
          </a:lstStyle>
          <a:p>
            <a:r>
              <a:t>xx%</a:t>
            </a:r>
          </a:p>
        </p:txBody>
      </p:sp>
      <p:sp>
        <p:nvSpPr>
          <p:cNvPr id="46" name="Google Shape;46;p19"/>
          <p:cNvSpPr txBox="1"/>
          <p:nvPr>
            <p:ph idx="1" type="body"/>
          </p:nvPr>
        </p:nvSpPr>
        <p:spPr>
          <a:xfrm>
            <a:off x="623400" y="6304450"/>
            <a:ext cx="17041200" cy="26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indent="-4064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2pPr>
            <a:lvl3pPr indent="-4064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3pPr>
            <a:lvl4pPr indent="-4064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4pPr>
            <a:lvl5pPr indent="-4064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5pPr>
            <a:lvl6pPr indent="-4064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6pPr>
            <a:lvl7pPr indent="-4064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●"/>
              <a:defRPr/>
            </a:lvl7pPr>
            <a:lvl8pPr indent="-4064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○"/>
              <a:defRPr/>
            </a:lvl8pPr>
            <a:lvl9pPr indent="-4064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623400" y="890050"/>
            <a:ext cx="17041200" cy="11454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Arial"/>
              <a:buNone/>
              <a:defRPr b="0" i="0" sz="5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623400" y="2304950"/>
            <a:ext cx="17041200" cy="6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182850" lIns="182850" spcFirstLastPara="1" rIns="182850" wrap="square" tIns="182850">
            <a:normAutofit/>
          </a:bodyPr>
          <a:lstStyle>
            <a:lvl1pPr indent="-4572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Arial"/>
              <a:buChar char="●"/>
              <a:defRPr b="0" i="0" sz="3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4064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4064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4064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4064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4064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●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4064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○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4064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Arial"/>
              <a:buChar char="■"/>
              <a:defRPr b="0" i="0" sz="2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4023360"/>
            <a:ext cx="1463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>
                <a:solidFill>
                  <a:srgbClr val="3627FC"/>
                </a:solidFill>
                <a:latin typeface="Poppins ExtraBold"/>
              </a:rPr>
              <a:t>Build an AI That Reads Your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603504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Medium"/>
              </a:rPr>
              <a:t>Lesson 4 of 8  ·  Embeddings and Semantic 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3566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640080"/>
            <a:ext cx="1463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Lesson 4 of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325880"/>
            <a:ext cx="1463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Embeddings</a:t>
            </a:r>
          </a:p>
        </p:txBody>
      </p:sp>
      <p:sp>
        <p:nvSpPr>
          <p:cNvPr id="5" name="Oval 4"/>
          <p:cNvSpPr/>
          <p:nvPr/>
        </p:nvSpPr>
        <p:spPr>
          <a:xfrm>
            <a:off x="1536192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3652374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7782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768557" y="2770632"/>
            <a:ext cx="402336" cy="402336"/>
          </a:xfrm>
          <a:prstGeom prst="ellipse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03965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FFFFFF"/>
                </a:solidFill>
                <a:latin typeface="Poppins ExtraBold"/>
              </a:rPr>
              <a:t>3</a:t>
            </a:r>
          </a:p>
        </p:txBody>
      </p:sp>
      <p:sp>
        <p:nvSpPr>
          <p:cNvPr id="11" name="Oval 10"/>
          <p:cNvSpPr/>
          <p:nvPr/>
        </p:nvSpPr>
        <p:spPr>
          <a:xfrm>
            <a:off x="7802444" y="2688336"/>
            <a:ext cx="566928" cy="566928"/>
          </a:xfrm>
          <a:prstGeom prst="ellipse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0148" y="279806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FFFFFF"/>
                </a:solidFill>
                <a:latin typeface="Poppins ExtraBold"/>
              </a:rPr>
              <a:t>4</a:t>
            </a:r>
          </a:p>
        </p:txBody>
      </p:sp>
      <p:sp>
        <p:nvSpPr>
          <p:cNvPr id="13" name="Oval 12"/>
          <p:cNvSpPr/>
          <p:nvPr/>
        </p:nvSpPr>
        <p:spPr>
          <a:xfrm>
            <a:off x="10000923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6331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5</a:t>
            </a:r>
          </a:p>
        </p:txBody>
      </p:sp>
      <p:sp>
        <p:nvSpPr>
          <p:cNvPr id="15" name="Oval 14"/>
          <p:cNvSpPr/>
          <p:nvPr/>
        </p:nvSpPr>
        <p:spPr>
          <a:xfrm>
            <a:off x="12117106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52514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6</a:t>
            </a:r>
          </a:p>
        </p:txBody>
      </p:sp>
      <p:sp>
        <p:nvSpPr>
          <p:cNvPr id="17" name="Oval 16"/>
          <p:cNvSpPr/>
          <p:nvPr/>
        </p:nvSpPr>
        <p:spPr>
          <a:xfrm>
            <a:off x="14233289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68697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7</a:t>
            </a:r>
          </a:p>
        </p:txBody>
      </p:sp>
      <p:sp>
        <p:nvSpPr>
          <p:cNvPr id="19" name="Oval 18"/>
          <p:cNvSpPr/>
          <p:nvPr/>
        </p:nvSpPr>
        <p:spPr>
          <a:xfrm>
            <a:off x="16349472" y="2770632"/>
            <a:ext cx="402336" cy="40233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184880" y="283464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666666"/>
                </a:solidFill>
                <a:latin typeface="Poppins ExtraBold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206240"/>
            <a:ext cx="6949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1C59E"/>
                </a:solidFill>
                <a:latin typeface="Poppins ExtraBold"/>
              </a:rPr>
              <a:t>You already know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" y="493776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1.  Your first AI call, and system prompts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2.  Why it makes things up, and why pasting everything fails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434343"/>
                </a:solidFill>
                <a:latin typeface="Poppins"/>
              </a:rPr>
              <a:t>3.  Splitting documents so they can be searched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3977639"/>
            <a:ext cx="64008" cy="4754880"/>
          </a:xfrm>
          <a:prstGeom prst="rect">
            <a:avLst/>
          </a:prstGeom>
          <a:solidFill>
            <a:srgbClr val="3627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4206240"/>
            <a:ext cx="4754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49377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2200">
                <a:solidFill>
                  <a:srgbClr val="434343"/>
                </a:solidFill>
                <a:latin typeface="Poppins SemiBold"/>
              </a:rPr>
              <a:t>Turning meaning into numbers you can 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420624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>
                <a:solidFill>
                  <a:srgbClr val="666666"/>
                </a:solidFill>
                <a:latin typeface="Poppins ExtraBold"/>
              </a:rPr>
              <a:t>Still ahead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0" y="4937760"/>
            <a:ext cx="3291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5.  The assistant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6.  Real project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7.  Your notes</a:t>
            </a:r>
          </a:p>
          <a:p>
            <a:pPr algn="l">
              <a:spcAft>
                <a:spcPts val="1300"/>
              </a:spcAft>
            </a:pPr>
            <a:r>
              <a:rPr sz="1700">
                <a:solidFill>
                  <a:srgbClr val="666666"/>
                </a:solidFill>
                <a:latin typeface="Poppins"/>
              </a:rPr>
              <a:t>8.  Ship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1991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Measure meaning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Turn words into numbers and compare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17736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08008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97896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The surprise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7896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Find answers that share no words with the question.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1" y="6428232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3" y="6327648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21991" y="6976872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Build the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1" y="7799832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Search your own documents - no AI involved yet.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17736" y="6428232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08008" y="6327648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97896" y="6976872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The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97896" y="7799832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Search for something that is not there.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69848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Meaning as a 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85248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Two words that mean similar things end up near each other.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Not similar spelling. Similar meaning.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Your model uses 1,536 numbers per piece of text - 1,536 axes it worked out itself.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You cannot picture that. You only need to measure the distance.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3657600"/>
            <a:ext cx="14630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3627FC"/>
                </a:solidFill>
                <a:latin typeface="Poppins ExtraBold"/>
              </a:rPr>
              <a:t>“hot” and “cold” score high.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69494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oppins"/>
              </a:rPr>
              <a:t>Embeddings capture what something is about, not whether it agrees —
a search can hand you the exact opposite of the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4864"/>
            <a:ext cx="18288000" cy="2084831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38144" y="667512"/>
            <a:ext cx="11420856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>
                <a:solidFill>
                  <a:srgbClr val="3627FC"/>
                </a:solidFill>
                <a:latin typeface="Poppins ExtraBold"/>
              </a:rPr>
              <a:t>The result that makes this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941831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3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21991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No shared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21991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“when the radio cannot get through” finds “valleys where the signal does not reach”. A word search scores zero.</a:t>
            </a:r>
          </a:p>
        </p:txBody>
      </p:sp>
      <p:sp>
        <p:nvSpPr>
          <p:cNvPr id="8" name="Rectangle 7"/>
          <p:cNvSpPr/>
          <p:nvPr/>
        </p:nvSpPr>
        <p:spPr>
          <a:xfrm>
            <a:off x="9317736" y="3008376"/>
            <a:ext cx="8028432" cy="3017520"/>
          </a:xfrm>
          <a:prstGeom prst="rect">
            <a:avLst/>
          </a:prstGeom>
          <a:solidFill>
            <a:srgbClr val="31C5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208008" y="2907792"/>
            <a:ext cx="8028432" cy="3017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97896" y="3557016"/>
            <a:ext cx="54681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>
                <a:solidFill>
                  <a:srgbClr val="434343"/>
                </a:solidFill>
                <a:latin typeface="Poppins ExtraBold"/>
              </a:rPr>
              <a:t>Not across languages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97896" y="4379976"/>
            <a:ext cx="54681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>
                <a:solidFill>
                  <a:srgbClr val="434343"/>
                </a:solidFill>
                <a:latin typeface="Poppins"/>
              </a:rPr>
              <a:t>An Armenian question scores an unrelated English line above its answer. Measure, never assume.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287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3849624"/>
            <a:ext cx="596188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00">
                <a:solidFill>
                  <a:srgbClr val="666666"/>
                </a:solidFill>
                <a:latin typeface="Poppins Medium"/>
              </a:rPr>
              <a:t>Read this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572000"/>
            <a:ext cx="775411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>
                <a:solidFill>
                  <a:srgbClr val="3627FC"/>
                </a:solidFill>
                <a:latin typeface="Poppins ExtraBold"/>
              </a:rPr>
              <a:t>It always returns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08960"/>
            <a:ext cx="7242048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Search for “Who won the 2018 World Cup?” and you still get 3 chunks back.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A vector store has no idea what “irrelevant” means. It returns the nearest things it has, however far away.</a:t>
            </a:r>
          </a:p>
          <a:p>
            <a:pPr algn="l">
              <a:spcAft>
                <a:spcPts val="1600"/>
              </a:spcAft>
            </a:pPr>
            <a:r>
              <a:rPr sz="1800">
                <a:solidFill>
                  <a:srgbClr val="3627FC"/>
                </a:solidFill>
                <a:latin typeface="Poppins SemiBold"/>
              </a:rPr>
              <a:t>So retrieval alone does not stop it inventing. That is Lesson 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