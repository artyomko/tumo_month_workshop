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2"/>
    <p:sldId id="257" r:id="rId11"/>
    <p:sldId id="258" r:id="rId10"/>
    <p:sldId id="259" r:id="rId9"/>
    <p:sldId id="260" r:id="rId8"/>
    <p:sldId id="261" r:id="rId7"/>
    <p:sldId id="262" r:id="rId6"/>
  </p:sldIdLst>
  <p:sldSz cy="10287000" cx="18288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Poppins Medium"/>
      <p:regular r:id="rId17"/>
      <p:bold r:id="rId18"/>
      <p:italic r:id="rId19"/>
      <p:boldItalic r:id="rId20"/>
    </p:embeddedFont>
    <p:embeddedFont>
      <p:font typeface="Poppins SemiBold"/>
      <p:regular r:id="rId21"/>
      <p:bold r:id="rId22"/>
      <p:italic r:id="rId23"/>
      <p:boldItalic r:id="rId24"/>
    </p:embeddedFont>
    <p:embeddedFont>
      <p:font typeface="Poppins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760">
          <p15:clr>
            <a:srgbClr val="747775"/>
          </p15:clr>
        </p15:guide>
        <p15:guide id="2" orient="horz" pos="324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ikcC1XCQqB7SploIcIGk0JnEci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/>
        <p:guide pos="324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slide" Target="slides/slide1.xml"/><Relationship Id="rId13" Type="http://schemas.openxmlformats.org/officeDocument/2006/relationships/font" Target="fonts/Poppins-regular.fntdata"/><Relationship Id="rId14" Type="http://schemas.openxmlformats.org/officeDocument/2006/relationships/font" Target="fonts/Poppins-bold.fntdata"/><Relationship Id="rId15" Type="http://schemas.openxmlformats.org/officeDocument/2006/relationships/font" Target="fonts/Poppins-italic.fntdata"/><Relationship Id="rId16" Type="http://schemas.openxmlformats.org/officeDocument/2006/relationships/font" Target="fonts/Poppins-boldItalic.fntdata"/><Relationship Id="rId17" Type="http://schemas.openxmlformats.org/officeDocument/2006/relationships/font" Target="fonts/PoppinsMedium-regular.fntdata"/><Relationship Id="rId18" Type="http://schemas.openxmlformats.org/officeDocument/2006/relationships/font" Target="fonts/PoppinsMedium-bold.fntdata"/><Relationship Id="rId19" Type="http://schemas.openxmlformats.org/officeDocument/2006/relationships/font" Target="fonts/PoppinsMedium-italic.fntdata"/><Relationship Id="rId20" Type="http://schemas.openxmlformats.org/officeDocument/2006/relationships/font" Target="fonts/PoppinsMedium-boldItalic.fntdata"/><Relationship Id="rId21" Type="http://schemas.openxmlformats.org/officeDocument/2006/relationships/font" Target="fonts/PoppinsSemiBold-regular.fntdata"/><Relationship Id="rId22" Type="http://schemas.openxmlformats.org/officeDocument/2006/relationships/font" Target="fonts/PoppinsSemiBold-bold.fntdata"/><Relationship Id="rId23" Type="http://schemas.openxmlformats.org/officeDocument/2006/relationships/font" Target="fonts/PoppinsSemiBold-italic.fntdata"/><Relationship Id="rId24" Type="http://schemas.openxmlformats.org/officeDocument/2006/relationships/font" Target="fonts/PoppinsSemiBold-boldItalic.fntdata"/><Relationship Id="rId25" Type="http://schemas.openxmlformats.org/officeDocument/2006/relationships/font" Target="fonts/PoppinsExtraBold-bold.fntdata"/><Relationship Id="rId26" Type="http://schemas.openxmlformats.org/officeDocument/2006/relationships/font" Target="fonts/PoppinsExtraBold-boldItalic.fntdata"/><Relationship Id="rId2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02336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>
                <a:solidFill>
                  <a:srgbClr val="3627FC"/>
                </a:solidFill>
                <a:latin typeface="Poppins ExtraBold"/>
              </a:rPr>
              <a:t>Build an AI That Reads Your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03504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666666"/>
                </a:solidFill>
                <a:latin typeface="Poppins Medium"/>
              </a:rPr>
              <a:t>Lesson 4 of 8  ·  Embeddings and Semantic 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35661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64008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Lesson 4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325880"/>
            <a:ext cx="1463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Embeddings</a:t>
            </a:r>
          </a:p>
        </p:txBody>
      </p:sp>
      <p:sp>
        <p:nvSpPr>
          <p:cNvPr id="5" name="Oval 4"/>
          <p:cNvSpPr/>
          <p:nvPr/>
        </p:nvSpPr>
        <p:spPr>
          <a:xfrm>
            <a:off x="1536192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652374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7782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5768557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3965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802444" y="2688336"/>
            <a:ext cx="566928" cy="566928"/>
          </a:xfrm>
          <a:prstGeom prst="ellipse">
            <a:avLst/>
          </a:prstGeom>
          <a:solidFill>
            <a:srgbClr val="362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0148" y="279806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Poppins ExtraBol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10000923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36331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5</a:t>
            </a:r>
          </a:p>
        </p:txBody>
      </p:sp>
      <p:sp>
        <p:nvSpPr>
          <p:cNvPr id="15" name="Oval 14"/>
          <p:cNvSpPr/>
          <p:nvPr/>
        </p:nvSpPr>
        <p:spPr>
          <a:xfrm>
            <a:off x="12117106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52514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14233289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68697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7</a:t>
            </a:r>
          </a:p>
        </p:txBody>
      </p:sp>
      <p:sp>
        <p:nvSpPr>
          <p:cNvPr id="19" name="Oval 18"/>
          <p:cNvSpPr/>
          <p:nvPr/>
        </p:nvSpPr>
        <p:spPr>
          <a:xfrm>
            <a:off x="16349472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18488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2062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31C59E"/>
                </a:solidFill>
                <a:latin typeface="Poppins ExtraBold"/>
              </a:rPr>
              <a:t>You already know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93776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1.  Your first AI call, and system prompts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2.  Why it makes things up, and why pasting everything fails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3.  Splitting documents so they can be searched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3977639"/>
            <a:ext cx="64008" cy="4754880"/>
          </a:xfrm>
          <a:prstGeom prst="rect">
            <a:avLst/>
          </a:prstGeom>
          <a:solidFill>
            <a:srgbClr val="362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3627FC"/>
                </a:solidFill>
                <a:latin typeface="Poppins ExtraBold"/>
              </a:rP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9377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2200">
                <a:solidFill>
                  <a:srgbClr val="434343"/>
                </a:solidFill>
                <a:latin typeface="Poppins SemiBold"/>
              </a:rPr>
              <a:t>Turning meaning into numbers you can compare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0" y="4206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666666"/>
                </a:solidFill>
                <a:latin typeface="Poppins ExtraBold"/>
              </a:rPr>
              <a:t>Still ahead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0" y="49377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5.  The assistant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6.  Real project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7.  Your notes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8.  Ship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8288000" cy="2084831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38144" y="667512"/>
            <a:ext cx="114208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3627FC"/>
                </a:solidFill>
                <a:latin typeface="Poppins ExtraBold"/>
              </a:rPr>
              <a:t>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941831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3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21991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Measure meaning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1991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Turn words into numbers and compare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17736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08008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97896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The surprise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7896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Find answers that share no words with the question.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1" y="6428232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3" y="6327648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1991" y="6976872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Build the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1" y="7799832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Search your own documents - no AI involved yet.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17736" y="6428232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08008" y="6327648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97896" y="6976872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The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7896" y="7799832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Search for something that is not there.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Meaning as a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5248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Two words that mean similar things end up near each other.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Not similar spelling. Similar meaning.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Your model uses 384 numbers per piece of text - 384 axes it worked out itself.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You cannot picture that. You only need to measure the distance.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463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3627FC"/>
                </a:solidFill>
                <a:latin typeface="Poppins ExtraBold"/>
              </a:rPr>
              <a:t>“hot” and “cold” score high.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694944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666666"/>
                </a:solidFill>
                <a:latin typeface="Poppins"/>
              </a:rPr>
              <a:t>Embeddings capture what something is about, not whether it agrees —
a search can hand you the exact opposite of the truth.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8288000" cy="2084831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38144" y="667512"/>
            <a:ext cx="114208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3627FC"/>
                </a:solidFill>
                <a:latin typeface="Poppins ExtraBold"/>
              </a:rPr>
              <a:t>The result that makes this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941831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3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21991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No shared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1991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“when the radio cannot get through” finds “valleys where the signal does not reach”. A word search scores zero.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17736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08008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97896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No shared alphabet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7896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An Armenian question finds the English answer. Not one character in common.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Read this twice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It always returns something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Search for “Who won the 2018 World Cup?” and you still get 3 chunks back.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A vector store has no idea what “irrelevant” means. It returns the nearest things it has, however far away.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So retrieval alone does not stop it inventing. That is Lesson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