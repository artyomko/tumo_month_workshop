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2"/>
    <p:sldId id="257" r:id="rId11"/>
    <p:sldId id="258" r:id="rId10"/>
    <p:sldId id="259" r:id="rId9"/>
    <p:sldId id="260" r:id="rId8"/>
    <p:sldId id="261" r:id="rId7"/>
    <p:sldId id="262" r:id="rId6"/>
  </p:sldIdLst>
  <p:sldSz cy="10287000" cx="18288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Poppins Medium"/>
      <p:regular r:id="rId17"/>
      <p:bold r:id="rId18"/>
      <p:italic r:id="rId19"/>
      <p:boldItalic r:id="rId20"/>
    </p:embeddedFont>
    <p:embeddedFont>
      <p:font typeface="Poppins SemiBold"/>
      <p:regular r:id="rId21"/>
      <p:bold r:id="rId22"/>
      <p:italic r:id="rId23"/>
      <p:boldItalic r:id="rId24"/>
    </p:embeddedFont>
    <p:embeddedFont>
      <p:font typeface="Poppins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760">
          <p15:clr>
            <a:srgbClr val="747775"/>
          </p15:clr>
        </p15:guide>
        <p15:guide id="2" orient="horz" pos="324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ikcC1XCQqB7SploIcIGk0JnEci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/>
        <p:guide pos="324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slide" Target="slides/slide1.xml"/><Relationship Id="rId13" Type="http://schemas.openxmlformats.org/officeDocument/2006/relationships/font" Target="fonts/Poppins-regular.fntdata"/><Relationship Id="rId14" Type="http://schemas.openxmlformats.org/officeDocument/2006/relationships/font" Target="fonts/Poppins-bold.fntdata"/><Relationship Id="rId15" Type="http://schemas.openxmlformats.org/officeDocument/2006/relationships/font" Target="fonts/Poppins-italic.fntdata"/><Relationship Id="rId16" Type="http://schemas.openxmlformats.org/officeDocument/2006/relationships/font" Target="fonts/Poppins-boldItalic.fntdata"/><Relationship Id="rId17" Type="http://schemas.openxmlformats.org/officeDocument/2006/relationships/font" Target="fonts/PoppinsMedium-regular.fntdata"/><Relationship Id="rId18" Type="http://schemas.openxmlformats.org/officeDocument/2006/relationships/font" Target="fonts/PoppinsMedium-bold.fntdata"/><Relationship Id="rId19" Type="http://schemas.openxmlformats.org/officeDocument/2006/relationships/font" Target="fonts/PoppinsMedium-italic.fntdata"/><Relationship Id="rId20" Type="http://schemas.openxmlformats.org/officeDocument/2006/relationships/font" Target="fonts/PoppinsMedium-boldItalic.fntdata"/><Relationship Id="rId21" Type="http://schemas.openxmlformats.org/officeDocument/2006/relationships/font" Target="fonts/PoppinsSemiBold-regular.fntdata"/><Relationship Id="rId22" Type="http://schemas.openxmlformats.org/officeDocument/2006/relationships/font" Target="fonts/PoppinsSemiBold-bold.fntdata"/><Relationship Id="rId23" Type="http://schemas.openxmlformats.org/officeDocument/2006/relationships/font" Target="fonts/PoppinsSemiBold-italic.fntdata"/><Relationship Id="rId24" Type="http://schemas.openxmlformats.org/officeDocument/2006/relationships/font" Target="fonts/PoppinsSemiBold-boldItalic.fntdata"/><Relationship Id="rId25" Type="http://schemas.openxmlformats.org/officeDocument/2006/relationships/font" Target="fonts/PoppinsExtraBold-bold.fntdata"/><Relationship Id="rId26" Type="http://schemas.openxmlformats.org/officeDocument/2006/relationships/font" Target="fonts/PoppinsExtraBold-boldItalic.fntdata"/><Relationship Id="rId2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02336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>
                <a:solidFill>
                  <a:srgbClr val="3627FC"/>
                </a:solidFill>
                <a:latin typeface="Poppins ExtraBold"/>
              </a:rPr>
              <a:t>Build an AI That Reads Your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03504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666666"/>
                </a:solidFill>
                <a:latin typeface="Poppins Medium"/>
              </a:rPr>
              <a:t>Lesson 3 of 8  ·  Preparing Documents: Chunking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35661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64008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Lesson 3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325880"/>
            <a:ext cx="1463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Chunking</a:t>
            </a:r>
          </a:p>
        </p:txBody>
      </p:sp>
      <p:sp>
        <p:nvSpPr>
          <p:cNvPr id="5" name="Oval 4"/>
          <p:cNvSpPr/>
          <p:nvPr/>
        </p:nvSpPr>
        <p:spPr>
          <a:xfrm>
            <a:off x="1536192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652374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7782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5686261" y="2688336"/>
            <a:ext cx="566928" cy="566928"/>
          </a:xfrm>
          <a:prstGeom prst="ellipse">
            <a:avLst/>
          </a:prstGeom>
          <a:solidFill>
            <a:srgbClr val="362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3965" y="279806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Poppins ExtraBold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884740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0148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10000923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36331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5</a:t>
            </a:r>
          </a:p>
        </p:txBody>
      </p:sp>
      <p:sp>
        <p:nvSpPr>
          <p:cNvPr id="15" name="Oval 14"/>
          <p:cNvSpPr/>
          <p:nvPr/>
        </p:nvSpPr>
        <p:spPr>
          <a:xfrm>
            <a:off x="12117106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52514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14233289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68697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7</a:t>
            </a:r>
          </a:p>
        </p:txBody>
      </p:sp>
      <p:sp>
        <p:nvSpPr>
          <p:cNvPr id="19" name="Oval 18"/>
          <p:cNvSpPr/>
          <p:nvPr/>
        </p:nvSpPr>
        <p:spPr>
          <a:xfrm>
            <a:off x="16349472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18488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2062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31C59E"/>
                </a:solidFill>
                <a:latin typeface="Poppins ExtraBold"/>
              </a:rPr>
              <a:t>You already know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93776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1.  Your first AI call, and system prompts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2.  Why it makes things up, and why pasting everything fails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3977639"/>
            <a:ext cx="64008" cy="4754880"/>
          </a:xfrm>
          <a:prstGeom prst="rect">
            <a:avLst/>
          </a:prstGeom>
          <a:solidFill>
            <a:srgbClr val="362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3627FC"/>
                </a:solidFill>
                <a:latin typeface="Poppins ExtraBold"/>
              </a:rP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9377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2200">
                <a:solidFill>
                  <a:srgbClr val="434343"/>
                </a:solidFill>
                <a:latin typeface="Poppins SemiBold"/>
              </a:rPr>
              <a:t>Splitting documents so they can be searched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666666"/>
                </a:solidFill>
                <a:latin typeface="Poppins ExtraBold"/>
              </a:rPr>
              <a:t>Still ahead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0" y="49377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4.  Embeddings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5.  The assistant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6.  Real project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7.  Your notes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8.  Ship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8288000" cy="2084831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38144" y="667512"/>
            <a:ext cx="114208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3627FC"/>
                </a:solidFill>
                <a:latin typeface="Poppins ExtraBold"/>
              </a:rPr>
              <a:t>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941831" y="3008376"/>
            <a:ext cx="5236464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3" y="2907792"/>
            <a:ext cx="5236464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90471" y="3557016"/>
            <a:ext cx="41391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>
                <a:solidFill>
                  <a:srgbClr val="434343"/>
                </a:solidFill>
                <a:latin typeface="Poppins ExtraBold"/>
              </a:rPr>
              <a:t>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1" y="4379976"/>
            <a:ext cx="41391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34343"/>
                </a:solidFill>
                <a:latin typeface="Poppins"/>
              </a:rPr>
              <a:t>Read a folder of documents, keeping track of where each came from.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25767" y="3008376"/>
            <a:ext cx="5236464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16039" y="2907792"/>
            <a:ext cx="5236464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74407" y="3557016"/>
            <a:ext cx="41391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>
                <a:solidFill>
                  <a:srgbClr val="434343"/>
                </a:solidFill>
                <a:latin typeface="Poppins ExtraBold"/>
              </a:rPr>
              <a:t>Compare sizes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4407" y="4379976"/>
            <a:ext cx="41391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34343"/>
                </a:solidFill>
                <a:latin typeface="Poppins"/>
              </a:rPr>
              <a:t>Split at 200, 500, 1000, 4000 - and read the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09703" y="3008376"/>
            <a:ext cx="5236464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999976" y="2907792"/>
            <a:ext cx="5236464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58343" y="3557016"/>
            <a:ext cx="41391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>
                <a:solidFill>
                  <a:srgbClr val="434343"/>
                </a:solidFill>
                <a:latin typeface="Poppins ExtraBold"/>
              </a:rPr>
              <a:t>Overlap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58343" y="4379976"/>
            <a:ext cx="41391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34343"/>
                </a:solidFill>
                <a:latin typeface="Poppins"/>
              </a:rPr>
              <a:t>Fix the sentence that got cut in half.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3799" y="6428232"/>
            <a:ext cx="5236464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24071" y="6327648"/>
            <a:ext cx="5236464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2439" y="6976872"/>
            <a:ext cx="41391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>
                <a:solidFill>
                  <a:srgbClr val="434343"/>
                </a:solidFill>
                <a:latin typeface="Poppins ExtraBold"/>
              </a:rPr>
              <a:t>Split on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2439" y="7799832"/>
            <a:ext cx="41391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34343"/>
                </a:solidFill>
                <a:latin typeface="Poppins"/>
              </a:rPr>
              <a:t>Keep each heading's section whole.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17736" y="6428232"/>
            <a:ext cx="5236464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08008" y="6327648"/>
            <a:ext cx="5236464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66376" y="6976872"/>
            <a:ext cx="413918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>
                <a:solidFill>
                  <a:srgbClr val="434343"/>
                </a:solidFill>
                <a:latin typeface="Poppins ExtraBold"/>
              </a:rPr>
              <a:t>Choose 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66376" y="7799832"/>
            <a:ext cx="41391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34343"/>
                </a:solidFill>
                <a:latin typeface="Poppins"/>
              </a:rPr>
              <a:t>Pick the settings for your own notes, and say why.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One chunk, one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5248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Big enough to stand alone. Small enough to be mostly relevant.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Too small: “The two-tracker rule was added after” … after what?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Too large: you are back to Lesson 2's problem in miniature.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3627FC"/>
                </a:solidFill>
                <a:latin typeface="Poppins ExtraBold"/>
              </a:rPr>
              <a:t>Handed only this chunk, could you answer the question?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694944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666666"/>
                </a:solidFill>
                <a:latin typeface="Poppins"/>
              </a:rPr>
              <a:t>That is the only test. It is a judgement, not a formula — and it is yours to make.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The catch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Wherever you cut, you cut somewhere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Sometimes straight through the sentence that held the answer.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Overlap: each chunk repeats the end of the one before it.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10-20% of the chunk size. Costs a little space, saves whole answers.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Your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Write them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5248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Chunk size and overlap, chosen by you, for your own notes.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Plus one sentence saying why you chose them.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“Because it was the default” is not accepted.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