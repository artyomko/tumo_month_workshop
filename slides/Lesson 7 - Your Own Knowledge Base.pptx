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2"/>
    <p:sldId id="257" r:id="rId11"/>
    <p:sldId id="258" r:id="rId10"/>
    <p:sldId id="259" r:id="rId9"/>
    <p:sldId id="260" r:id="rId8"/>
    <p:sldId id="261" r:id="rId7"/>
    <p:sldId id="262" r:id="rId6"/>
  </p:sldIdLst>
  <p:sldSz cy="10287000" cx="18288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Poppins Medium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760">
          <p15:clr>
            <a:srgbClr val="747775"/>
          </p15:clr>
        </p15:guide>
        <p15:guide id="2" orient="horz" pos="324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kcC1XCQqB7SploIcIGk0JnEci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0"/>
        <p:guide pos="32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2.xml"/><Relationship Id="rId12" Type="http://schemas.openxmlformats.org/officeDocument/2006/relationships/slide" Target="slides/slide1.xml"/><Relationship Id="rId13" Type="http://schemas.openxmlformats.org/officeDocument/2006/relationships/font" Target="fonts/Poppins-regular.fntdata"/><Relationship Id="rId14" Type="http://schemas.openxmlformats.org/officeDocument/2006/relationships/font" Target="fonts/Poppins-bold.fntdata"/><Relationship Id="rId15" Type="http://schemas.openxmlformats.org/officeDocument/2006/relationships/font" Target="fonts/Poppins-italic.fntdata"/><Relationship Id="rId16" Type="http://schemas.openxmlformats.org/officeDocument/2006/relationships/font" Target="fonts/Poppins-boldItalic.fntdata"/><Relationship Id="rId17" Type="http://schemas.openxmlformats.org/officeDocument/2006/relationships/font" Target="fonts/PoppinsMedium-regular.fntdata"/><Relationship Id="rId18" Type="http://schemas.openxmlformats.org/officeDocument/2006/relationships/font" Target="fonts/PoppinsMedium-bold.fntdata"/><Relationship Id="rId19" Type="http://schemas.openxmlformats.org/officeDocument/2006/relationships/font" Target="fonts/PoppinsMedium-italic.fntdata"/><Relationship Id="rId20" Type="http://schemas.openxmlformats.org/officeDocument/2006/relationships/font" Target="fonts/PoppinsMedium-boldItalic.fntdata"/><Relationship Id="rId21" Type="http://schemas.openxmlformats.org/officeDocument/2006/relationships/font" Target="fonts/PoppinsSemiBold-regular.fntdata"/><Relationship Id="rId22" Type="http://schemas.openxmlformats.org/officeDocument/2006/relationships/font" Target="fonts/PoppinsSemiBold-bold.fntdata"/><Relationship Id="rId23" Type="http://schemas.openxmlformats.org/officeDocument/2006/relationships/font" Target="fonts/PoppinsSemiBold-italic.fntdata"/><Relationship Id="rId24" Type="http://schemas.openxmlformats.org/officeDocument/2006/relationships/font" Target="fonts/PoppinsSemiBold-boldItalic.fntdata"/><Relationship Id="rId25" Type="http://schemas.openxmlformats.org/officeDocument/2006/relationships/font" Target="fonts/PoppinsExtraBold-bold.fntdata"/><Relationship Id="rId26" Type="http://schemas.openxmlformats.org/officeDocument/2006/relationships/font" Target="fonts/PoppinsExtraBold-boldItalic.fntdata"/><Relationship Id="rId2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4023360"/>
            <a:ext cx="1463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>
                <a:solidFill>
                  <a:srgbClr val="3627FC"/>
                </a:solidFill>
                <a:latin typeface="Poppins ExtraBold"/>
              </a:rPr>
              <a:t>Build an AI That Reads Your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03504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Medium"/>
              </a:rPr>
              <a:t>Lesson 7 of 8  ·  Your Own Knowledge 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35661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64008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Lesson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1325880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Your notes</a:t>
            </a:r>
          </a:p>
        </p:txBody>
      </p:sp>
      <p:sp>
        <p:nvSpPr>
          <p:cNvPr id="5" name="Oval 4"/>
          <p:cNvSpPr/>
          <p:nvPr/>
        </p:nvSpPr>
        <p:spPr>
          <a:xfrm>
            <a:off x="1536192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3652374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7782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768557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3965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7884740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0148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0000923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6331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5</a:t>
            </a:r>
          </a:p>
        </p:txBody>
      </p:sp>
      <p:sp>
        <p:nvSpPr>
          <p:cNvPr id="15" name="Oval 14"/>
          <p:cNvSpPr/>
          <p:nvPr/>
        </p:nvSpPr>
        <p:spPr>
          <a:xfrm>
            <a:off x="12117106" y="2770632"/>
            <a:ext cx="402336" cy="402336"/>
          </a:xfrm>
          <a:prstGeom prst="ellipse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52514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  <a:latin typeface="Poppins ExtraBold"/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14150993" y="2688336"/>
            <a:ext cx="566928" cy="566928"/>
          </a:xfrm>
          <a:prstGeom prst="ellipse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68697" y="27980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oppins ExtraBold"/>
              </a:rPr>
              <a:t>7</a:t>
            </a:r>
          </a:p>
        </p:txBody>
      </p:sp>
      <p:sp>
        <p:nvSpPr>
          <p:cNvPr id="19" name="Oval 18"/>
          <p:cNvSpPr/>
          <p:nvPr/>
        </p:nvSpPr>
        <p:spPr>
          <a:xfrm>
            <a:off x="16349472" y="277063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66666"/>
                </a:solidFill>
                <a:latin typeface="Poppins ExtraBold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42062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1C59E"/>
                </a:solidFill>
                <a:latin typeface="Poppins ExtraBold"/>
              </a:rPr>
              <a:t>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93776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1.  Your first AI call, and system prompts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2.  Why it makes things up, and why pasting everything fails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3.  Splitting documents so they can be searched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4.  Turning meaning into numbers you can compare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5.  Retrieval + prompt = grounded answers</a:t>
            </a:r>
          </a:p>
          <a:p>
            <a:pPr algn="l">
              <a:spcAft>
                <a:spcPts val="1300"/>
              </a:spcAft>
            </a:pPr>
            <a:r>
              <a:rPr sz="1700">
                <a:solidFill>
                  <a:srgbClr val="434343"/>
                </a:solidFill>
                <a:latin typeface="Poppins"/>
              </a:rPr>
              <a:t>6.  Out of the notebook, into Python files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977639"/>
            <a:ext cx="64008" cy="4754880"/>
          </a:xfrm>
          <a:prstGeom prst="rect">
            <a:avLst/>
          </a:prstGeom>
          <a:solidFill>
            <a:srgbClr val="362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206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9377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2200">
                <a:solidFill>
                  <a:srgbClr val="434343"/>
                </a:solidFill>
                <a:latin typeface="Poppins SemiBold"/>
              </a:rPr>
              <a:t>Your own documents, and fixing what goes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0" y="4206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666666"/>
                </a:solidFill>
                <a:latin typeface="Poppins ExtraBold"/>
              </a:rPr>
              <a:t>Still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0" y="493776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700">
                <a:solidFill>
                  <a:srgbClr val="666666"/>
                </a:solidFill>
                <a:latin typeface="Poppins"/>
              </a:rPr>
              <a:t>8.  Ship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Your 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Load your own material and ask five questions you know.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Improve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Fix the documents, not the code. Then measure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9783" y="6428232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0055" y="6327648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6976872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Build a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7799832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One of your own. Decide which file it belongs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The hard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Garbage in, garbage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85248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Good: headings, short paragraphs, one topic per file.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Bad: one unbroken wall of text, everything in notes.md.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The killer: notes that say “this is the important one”. “This” carries the meaning, and a search cannot see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3657600"/>
            <a:ext cx="1463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>
                <a:solidFill>
                  <a:srgbClr val="3627FC"/>
                </a:solidFill>
                <a:latin typeface="Poppins ExtraBold"/>
              </a:rPr>
              <a:t>Did the right chunk come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694944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  <a:latin typeface="Poppins"/>
              </a:rPr>
              <a:t>Ask that before you blame the prompt. /sources answers it, and costs next to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"/>
            <a:ext cx="18288000" cy="2084831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38144" y="667512"/>
            <a:ext cx="1142085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>
                <a:solidFill>
                  <a:srgbClr val="3627FC"/>
                </a:solidFill>
                <a:latin typeface="Poppins ExtraBold"/>
              </a:rPr>
              <a:t>Two failures, two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41831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3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21991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Retrieval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The right chunk never came back. Fix your documents, the chunk size, or k.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17736" y="3008376"/>
            <a:ext cx="8028432" cy="3017520"/>
          </a:xfrm>
          <a:prstGeom prst="rect">
            <a:avLst/>
          </a:prstGeom>
          <a:solidFill>
            <a:srgbClr val="31C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08008" y="2907792"/>
            <a:ext cx="802843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7896" y="3557016"/>
            <a:ext cx="5468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>
                <a:solidFill>
                  <a:srgbClr val="434343"/>
                </a:solidFill>
                <a:latin typeface="Poppins ExtraBold"/>
              </a:rPr>
              <a:t>Generation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97896" y="4379976"/>
            <a:ext cx="546811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434343"/>
                </a:solidFill>
                <a:latin typeface="Poppins"/>
              </a:rPr>
              <a:t>It came back and the model ignored it. Fix the system prompt.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0" y="3849624"/>
            <a:ext cx="5961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>
                <a:solidFill>
                  <a:srgbClr val="666666"/>
                </a:solidFill>
                <a:latin typeface="Poppins Medium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0"/>
            <a:ext cx="7754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>
                <a:solidFill>
                  <a:srgbClr val="3627FC"/>
                </a:solidFill>
                <a:latin typeface="Poppins ExtraBold"/>
              </a:rPr>
              <a:t>Re-run ingest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724204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Chunk size, overlap, or the documents themselves → re-run ingest.py.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How many chunks, or the system prompt → takes effect immediately.</a:t>
            </a:r>
          </a:p>
          <a:p>
            <a:pPr algn="l">
              <a:spcAft>
                <a:spcPts val="1600"/>
              </a:spcAft>
            </a:pPr>
            <a:r>
              <a:rPr sz="1800">
                <a:solidFill>
                  <a:srgbClr val="3627FC"/>
                </a:solidFill>
                <a:latin typeface="Poppins SemiBold"/>
              </a:rPr>
              <a:t>“I changed it and nothing happened” is almost always a forgotten ingest.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