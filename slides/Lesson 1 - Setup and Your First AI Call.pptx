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12"/>
    <p:sldId id="257" r:id="rId11"/>
    <p:sldId id="258" r:id="rId10"/>
    <p:sldId id="259" r:id="rId9"/>
    <p:sldId id="260" r:id="rId8"/>
    <p:sldId id="261" r:id="rId7"/>
    <p:sldId id="262" r:id="rId6"/>
    <p:sldId id="263" r:id="rId28"/>
    <p:sldId id="264" r:id="rId29"/>
    <p:sldId id="265" r:id="rId30"/>
  </p:sldIdLst>
  <p:sldSz cy="10287000" cx="18288000"/>
  <p:notesSz cx="6858000" cy="9144000"/>
  <p:embeddedFontLst>
    <p:embeddedFont>
      <p:font typeface="Poppins"/>
      <p:regular r:id="rId13"/>
      <p:bold r:id="rId14"/>
      <p:italic r:id="rId15"/>
      <p:boldItalic r:id="rId16"/>
    </p:embeddedFont>
    <p:embeddedFont>
      <p:font typeface="Poppins Medium"/>
      <p:regular r:id="rId17"/>
      <p:bold r:id="rId18"/>
      <p:italic r:id="rId19"/>
      <p:boldItalic r:id="rId20"/>
    </p:embeddedFont>
    <p:embeddedFont>
      <p:font typeface="Poppins SemiBold"/>
      <p:regular r:id="rId21"/>
      <p:bold r:id="rId22"/>
      <p:italic r:id="rId23"/>
      <p:boldItalic r:id="rId24"/>
    </p:embeddedFont>
    <p:embeddedFont>
      <p:font typeface="Poppins ExtraBold"/>
      <p:bold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5760">
          <p15:clr>
            <a:srgbClr val="747775"/>
          </p15:clr>
        </p15:guide>
        <p15:guide id="2" orient="horz" pos="3240">
          <p15:clr>
            <a:srgbClr val="747775"/>
          </p15:clr>
        </p15:guide>
      </p15:sldGuideLst>
    </p:ext>
    <p:ext uri="GoogleSlidesCustomDataVersion2">
      <go:slidesCustomData xmlns:go="http://customooxmlschemas.google.com/" r:id="rId27" roundtripDataSignature="AMtx7mikcC1XCQqB7SploIcIGk0JnEciC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760"/>
        <p:guide pos="3240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4.xml"/><Relationship Id="rId10" Type="http://schemas.openxmlformats.org/officeDocument/2006/relationships/slide" Target="slides/slide3.xml"/><Relationship Id="rId11" Type="http://schemas.openxmlformats.org/officeDocument/2006/relationships/slide" Target="slides/slide2.xml"/><Relationship Id="rId12" Type="http://schemas.openxmlformats.org/officeDocument/2006/relationships/slide" Target="slides/slide1.xml"/><Relationship Id="rId13" Type="http://schemas.openxmlformats.org/officeDocument/2006/relationships/font" Target="fonts/Poppins-regular.fntdata"/><Relationship Id="rId14" Type="http://schemas.openxmlformats.org/officeDocument/2006/relationships/font" Target="fonts/Poppins-bold.fntdata"/><Relationship Id="rId15" Type="http://schemas.openxmlformats.org/officeDocument/2006/relationships/font" Target="fonts/Poppins-italic.fntdata"/><Relationship Id="rId16" Type="http://schemas.openxmlformats.org/officeDocument/2006/relationships/font" Target="fonts/Poppins-boldItalic.fntdata"/><Relationship Id="rId17" Type="http://schemas.openxmlformats.org/officeDocument/2006/relationships/font" Target="fonts/PoppinsMedium-regular.fntdata"/><Relationship Id="rId18" Type="http://schemas.openxmlformats.org/officeDocument/2006/relationships/font" Target="fonts/PoppinsMedium-bold.fntdata"/><Relationship Id="rId19" Type="http://schemas.openxmlformats.org/officeDocument/2006/relationships/font" Target="fonts/PoppinsMedium-italic.fntdata"/><Relationship Id="rId20" Type="http://schemas.openxmlformats.org/officeDocument/2006/relationships/font" Target="fonts/PoppinsMedium-boldItalic.fntdata"/><Relationship Id="rId21" Type="http://schemas.openxmlformats.org/officeDocument/2006/relationships/font" Target="fonts/PoppinsSemiBold-regular.fntdata"/><Relationship Id="rId22" Type="http://schemas.openxmlformats.org/officeDocument/2006/relationships/font" Target="fonts/PoppinsSemiBold-bold.fntdata"/><Relationship Id="rId23" Type="http://schemas.openxmlformats.org/officeDocument/2006/relationships/font" Target="fonts/PoppinsSemiBold-italic.fntdata"/><Relationship Id="rId24" Type="http://schemas.openxmlformats.org/officeDocument/2006/relationships/font" Target="fonts/PoppinsSemiBold-boldItalic.fntdata"/><Relationship Id="rId25" Type="http://schemas.openxmlformats.org/officeDocument/2006/relationships/font" Target="fonts/PoppinsExtraBold-bold.fntdata"/><Relationship Id="rId26" Type="http://schemas.openxmlformats.org/officeDocument/2006/relationships/font" Target="fonts/PoppinsExtraBold-boldItalic.fntdata"/><Relationship Id="rId27" Type="http://customschemas.google.com/relationships/presentationmetadata" Target="metadata"/><Relationship Id="rId28" Type="http://schemas.openxmlformats.org/officeDocument/2006/relationships/slide" Target="slides/slide8.xml"/><Relationship Id="rId29" Type="http://schemas.openxmlformats.org/officeDocument/2006/relationships/slide" Target="slides/slide9.xml"/><Relationship Id="rId30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/>
          <p:nvPr>
            <p:ph type="ctrTitle"/>
          </p:nvPr>
        </p:nvSpPr>
        <p:spPr>
          <a:xfrm>
            <a:off x="623417" y="1489150"/>
            <a:ext cx="17041200" cy="41052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9pPr>
          </a:lstStyle>
          <a:p/>
        </p:txBody>
      </p:sp>
      <p:sp>
        <p:nvSpPr>
          <p:cNvPr id="11" name="Google Shape;11;p10"/>
          <p:cNvSpPr txBox="1"/>
          <p:nvPr>
            <p:ph idx="1" type="subTitle"/>
          </p:nvPr>
        </p:nvSpPr>
        <p:spPr>
          <a:xfrm>
            <a:off x="623400" y="5668250"/>
            <a:ext cx="17041200" cy="15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12" name="Google Shape;12;p10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1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15" name="Google Shape;15;p11"/>
          <p:cNvSpPr txBox="1"/>
          <p:nvPr>
            <p:ph idx="1" type="body"/>
          </p:nvPr>
        </p:nvSpPr>
        <p:spPr>
          <a:xfrm>
            <a:off x="623400" y="2304950"/>
            <a:ext cx="170412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16" name="Google Shape;16;p11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2"/>
          <p:cNvSpPr txBox="1"/>
          <p:nvPr>
            <p:ph type="title"/>
          </p:nvPr>
        </p:nvSpPr>
        <p:spPr>
          <a:xfrm>
            <a:off x="623400" y="4301700"/>
            <a:ext cx="17041200" cy="168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/>
        </p:txBody>
      </p:sp>
      <p:sp>
        <p:nvSpPr>
          <p:cNvPr id="19" name="Google Shape;19;p12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3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22" name="Google Shape;22;p13"/>
          <p:cNvSpPr txBox="1"/>
          <p:nvPr>
            <p:ph idx="1" type="body"/>
          </p:nvPr>
        </p:nvSpPr>
        <p:spPr>
          <a:xfrm>
            <a:off x="623400" y="2304950"/>
            <a:ext cx="79998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064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23" name="Google Shape;23;p13"/>
          <p:cNvSpPr txBox="1"/>
          <p:nvPr>
            <p:ph idx="2" type="body"/>
          </p:nvPr>
        </p:nvSpPr>
        <p:spPr>
          <a:xfrm>
            <a:off x="9664800" y="2304950"/>
            <a:ext cx="79998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064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24" name="Google Shape;24;p13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4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27" name="Google Shape;27;p14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5"/>
          <p:cNvSpPr txBox="1"/>
          <p:nvPr>
            <p:ph type="title"/>
          </p:nvPr>
        </p:nvSpPr>
        <p:spPr>
          <a:xfrm>
            <a:off x="623400" y="1111200"/>
            <a:ext cx="5616000" cy="15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0" name="Google Shape;30;p15"/>
          <p:cNvSpPr txBox="1"/>
          <p:nvPr>
            <p:ph idx="1" type="body"/>
          </p:nvPr>
        </p:nvSpPr>
        <p:spPr>
          <a:xfrm>
            <a:off x="623400" y="2779200"/>
            <a:ext cx="5616000" cy="6358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3810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31" name="Google Shape;31;p15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6"/>
          <p:cNvSpPr txBox="1"/>
          <p:nvPr>
            <p:ph type="title"/>
          </p:nvPr>
        </p:nvSpPr>
        <p:spPr>
          <a:xfrm>
            <a:off x="980500" y="900300"/>
            <a:ext cx="12735600" cy="818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/>
        </p:txBody>
      </p:sp>
      <p:sp>
        <p:nvSpPr>
          <p:cNvPr id="34" name="Google Shape;34;p16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7"/>
          <p:cNvSpPr/>
          <p:nvPr/>
        </p:nvSpPr>
        <p:spPr>
          <a:xfrm>
            <a:off x="9144000" y="-250"/>
            <a:ext cx="9144000" cy="10287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7"/>
          <p:cNvSpPr txBox="1"/>
          <p:nvPr>
            <p:ph type="title"/>
          </p:nvPr>
        </p:nvSpPr>
        <p:spPr>
          <a:xfrm>
            <a:off x="531000" y="2466350"/>
            <a:ext cx="8090400" cy="29646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9pPr>
          </a:lstStyle>
          <a:p/>
        </p:txBody>
      </p:sp>
      <p:sp>
        <p:nvSpPr>
          <p:cNvPr id="38" name="Google Shape;38;p17"/>
          <p:cNvSpPr txBox="1"/>
          <p:nvPr>
            <p:ph idx="1" type="subTitle"/>
          </p:nvPr>
        </p:nvSpPr>
        <p:spPr>
          <a:xfrm>
            <a:off x="531000" y="5606150"/>
            <a:ext cx="8090400" cy="2470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9" name="Google Shape;39;p17"/>
          <p:cNvSpPr txBox="1"/>
          <p:nvPr>
            <p:ph idx="2" type="body"/>
          </p:nvPr>
        </p:nvSpPr>
        <p:spPr>
          <a:xfrm>
            <a:off x="9879000" y="1448150"/>
            <a:ext cx="7674000" cy="739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-457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40" name="Google Shape;40;p17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8"/>
          <p:cNvSpPr txBox="1"/>
          <p:nvPr>
            <p:ph idx="1" type="body"/>
          </p:nvPr>
        </p:nvSpPr>
        <p:spPr>
          <a:xfrm>
            <a:off x="623400" y="8461150"/>
            <a:ext cx="11997600" cy="121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</a:lstStyle>
          <a:p/>
        </p:txBody>
      </p:sp>
      <p:sp>
        <p:nvSpPr>
          <p:cNvPr id="43" name="Google Shape;43;p18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9"/>
          <p:cNvSpPr txBox="1"/>
          <p:nvPr>
            <p:ph hasCustomPrompt="1" type="title"/>
          </p:nvPr>
        </p:nvSpPr>
        <p:spPr>
          <a:xfrm>
            <a:off x="623400" y="2212250"/>
            <a:ext cx="17041200" cy="39270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9pPr>
          </a:lstStyle>
          <a:p>
            <a:r>
              <a:t>xx%</a:t>
            </a:r>
          </a:p>
        </p:txBody>
      </p:sp>
      <p:sp>
        <p:nvSpPr>
          <p:cNvPr id="46" name="Google Shape;46;p19"/>
          <p:cNvSpPr txBox="1"/>
          <p:nvPr>
            <p:ph idx="1" type="body"/>
          </p:nvPr>
        </p:nvSpPr>
        <p:spPr>
          <a:xfrm>
            <a:off x="623400" y="6304450"/>
            <a:ext cx="17041200" cy="26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0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623400" y="2304950"/>
            <a:ext cx="170412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Char char="●"/>
              <a:defRPr b="0" i="0" sz="3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4064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4064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●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4064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4064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4064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●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4064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4064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0" y="3749039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>
                <a:solidFill>
                  <a:srgbClr val="3627FC"/>
                </a:solidFill>
                <a:latin typeface="Poppins ExtraBold"/>
              </a:rPr>
              <a:t>AI</a:t>
            </a:r>
          </a:p>
          <a:p>
            <a:pPr algn="l"/>
            <a:r>
              <a:rPr sz="6000">
                <a:solidFill>
                  <a:srgbClr val="3627FC"/>
                </a:solidFill>
                <a:latin typeface="Poppins ExtraBold"/>
              </a:rPr>
              <a:t>Workshop: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63093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666666"/>
                </a:solidFill>
                <a:latin typeface="Poppins Medium"/>
              </a:rPr>
              <a:t>8 lessons ·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4023360"/>
            <a:ext cx="1463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>
                <a:solidFill>
                  <a:srgbClr val="3627FC"/>
                </a:solidFill>
                <a:latin typeface="Poppins ExtraBold"/>
              </a:rPr>
              <a:t>Build an AI That Reads Your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6035040"/>
            <a:ext cx="1463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666666"/>
                </a:solidFill>
                <a:latin typeface="Poppins Medium"/>
              </a:rPr>
              <a:t>Lesson 1 of 8  ·  Setup and Your First AI Call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9848" y="82296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Where we are going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960119" y="3154679"/>
            <a:ext cx="10019211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19" y="3218687"/>
            <a:ext cx="1001921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666666"/>
                </a:solidFill>
                <a:latin typeface="Poppins Medium"/>
              </a:rPr>
              <a:t>EXPLORE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1541034" y="3154679"/>
            <a:ext cx="1554480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41034" y="3218687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666666"/>
                </a:solidFill>
                <a:latin typeface="Poppins Medium"/>
              </a:rPr>
              <a:t>BUILD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13657217" y="3154679"/>
            <a:ext cx="3670662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657217" y="3218687"/>
            <a:ext cx="367066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666666"/>
                </a:solidFill>
                <a:latin typeface="Poppins Medium"/>
              </a:rPr>
              <a:t>FINISH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7360" y="5093207"/>
            <a:ext cx="14813280" cy="54864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71600" y="4754879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oppins Extra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886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4251959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Your first AI call, and system prompts</a:t>
            </a:r>
          </a:p>
        </p:txBody>
      </p:sp>
      <p:sp>
        <p:nvSpPr>
          <p:cNvPr id="14" name="Oval 13"/>
          <p:cNvSpPr/>
          <p:nvPr/>
        </p:nvSpPr>
        <p:spPr>
          <a:xfrm>
            <a:off x="3487782" y="4754879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96342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oppins ExtraBol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01982" y="5806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Why AI invents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19102" y="62179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Why it makes things up, and why pasting everything fails</a:t>
            </a:r>
          </a:p>
        </p:txBody>
      </p:sp>
      <p:sp>
        <p:nvSpPr>
          <p:cNvPr id="18" name="Oval 17"/>
          <p:cNvSpPr/>
          <p:nvPr/>
        </p:nvSpPr>
        <p:spPr>
          <a:xfrm>
            <a:off x="5603965" y="4754879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12525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oppins ExtraBol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8165" y="3886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Chunking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35285" y="4251959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Splitting documents so they can be searched</a:t>
            </a:r>
          </a:p>
        </p:txBody>
      </p:sp>
      <p:sp>
        <p:nvSpPr>
          <p:cNvPr id="22" name="Oval 21"/>
          <p:cNvSpPr/>
          <p:nvPr/>
        </p:nvSpPr>
        <p:spPr>
          <a:xfrm>
            <a:off x="7720148" y="4754879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28708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oppins ExtraBold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34348" y="5806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Embeddings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1468" y="62179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Turning meaning into numbers you can compare</a:t>
            </a:r>
          </a:p>
        </p:txBody>
      </p:sp>
      <p:sp>
        <p:nvSpPr>
          <p:cNvPr id="26" name="Oval 25"/>
          <p:cNvSpPr/>
          <p:nvPr/>
        </p:nvSpPr>
        <p:spPr>
          <a:xfrm>
            <a:off x="9836331" y="4754879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44891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oppins ExtraBol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0531" y="3886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The assistant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7651" y="4251959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Retrieval + prompt = grounded answers</a:t>
            </a:r>
          </a:p>
        </p:txBody>
      </p:sp>
      <p:sp>
        <p:nvSpPr>
          <p:cNvPr id="30" name="Oval 29"/>
          <p:cNvSpPr/>
          <p:nvPr/>
        </p:nvSpPr>
        <p:spPr>
          <a:xfrm>
            <a:off x="11952514" y="4754879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61074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oppins ExtraBold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66714" y="5806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Real project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83834" y="62179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Out of the notebook, into Python files</a:t>
            </a:r>
          </a:p>
        </p:txBody>
      </p:sp>
      <p:sp>
        <p:nvSpPr>
          <p:cNvPr id="34" name="Oval 33"/>
          <p:cNvSpPr/>
          <p:nvPr/>
        </p:nvSpPr>
        <p:spPr>
          <a:xfrm>
            <a:off x="14068697" y="4754879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977257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oppins ExtraBold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382897" y="3886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Your notes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00017" y="4251959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Your own documents, and fixing what goes wrong</a:t>
            </a:r>
          </a:p>
        </p:txBody>
      </p:sp>
      <p:sp>
        <p:nvSpPr>
          <p:cNvPr id="38" name="Oval 37"/>
          <p:cNvSpPr/>
          <p:nvPr/>
        </p:nvSpPr>
        <p:spPr>
          <a:xfrm>
            <a:off x="16184880" y="4754879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093440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oppins ExtraBold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499080" y="5806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Ship 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316200" y="62179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Measure, tune, and show what you built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" y="8503920"/>
            <a:ext cx="1554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  <a:latin typeface="Poppins Medium"/>
              </a:rPr>
              <a:t>8 lessons · 2 hours each · you leave with a program that knows what you know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35661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" y="640080"/>
            <a:ext cx="1463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>
                <a:solidFill>
                  <a:srgbClr val="666666"/>
                </a:solidFill>
                <a:latin typeface="Poppins Medium"/>
              </a:rPr>
              <a:t>Lesson 1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325880"/>
            <a:ext cx="1463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Setup</a:t>
            </a:r>
          </a:p>
        </p:txBody>
      </p:sp>
      <p:sp>
        <p:nvSpPr>
          <p:cNvPr id="5" name="Oval 4"/>
          <p:cNvSpPr/>
          <p:nvPr/>
        </p:nvSpPr>
        <p:spPr>
          <a:xfrm>
            <a:off x="1453895" y="2688336"/>
            <a:ext cx="566928" cy="566928"/>
          </a:xfrm>
          <a:prstGeom prst="ellipse">
            <a:avLst/>
          </a:prstGeom>
          <a:solidFill>
            <a:srgbClr val="362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79806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FFFFFF"/>
                </a:solidFill>
                <a:latin typeface="Poppins ExtraBold"/>
              </a:rPr>
              <a:t>1</a:t>
            </a:r>
          </a:p>
        </p:txBody>
      </p:sp>
      <p:sp>
        <p:nvSpPr>
          <p:cNvPr id="7" name="Oval 6"/>
          <p:cNvSpPr/>
          <p:nvPr/>
        </p:nvSpPr>
        <p:spPr>
          <a:xfrm>
            <a:off x="3652374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7782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5768557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03965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7884740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0148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10000923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6331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5</a:t>
            </a:r>
          </a:p>
        </p:txBody>
      </p:sp>
      <p:sp>
        <p:nvSpPr>
          <p:cNvPr id="15" name="Oval 14"/>
          <p:cNvSpPr/>
          <p:nvPr/>
        </p:nvSpPr>
        <p:spPr>
          <a:xfrm>
            <a:off x="12117106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52514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6</a:t>
            </a:r>
          </a:p>
        </p:txBody>
      </p:sp>
      <p:sp>
        <p:nvSpPr>
          <p:cNvPr id="17" name="Oval 16"/>
          <p:cNvSpPr/>
          <p:nvPr/>
        </p:nvSpPr>
        <p:spPr>
          <a:xfrm>
            <a:off x="14233289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68697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7</a:t>
            </a:r>
          </a:p>
        </p:txBody>
      </p:sp>
      <p:sp>
        <p:nvSpPr>
          <p:cNvPr id="19" name="Oval 18"/>
          <p:cNvSpPr/>
          <p:nvPr/>
        </p:nvSpPr>
        <p:spPr>
          <a:xfrm>
            <a:off x="16349472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184880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4206240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31C59E"/>
                </a:solidFill>
                <a:latin typeface="Poppins ExtraBold"/>
              </a:rPr>
              <a:t>You already know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93776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Nothing yet - this is where it starts.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3977639"/>
            <a:ext cx="64008" cy="4754880"/>
          </a:xfrm>
          <a:prstGeom prst="rect">
            <a:avLst/>
          </a:prstGeom>
          <a:solidFill>
            <a:srgbClr val="362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420624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3627FC"/>
                </a:solidFill>
                <a:latin typeface="Poppins ExtraBold"/>
              </a:rPr>
              <a:t>Today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493776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2200">
                <a:solidFill>
                  <a:srgbClr val="434343"/>
                </a:solidFill>
                <a:latin typeface="Poppins SemiBold"/>
              </a:rPr>
              <a:t>Your first AI call, and system prompts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0" y="42062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666666"/>
                </a:solidFill>
                <a:latin typeface="Poppins ExtraBold"/>
              </a:rPr>
              <a:t>Still ahead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47520" y="4937760"/>
            <a:ext cx="3291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2.  Why AI invents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3.  Chunking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4.  Embeddings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5.  The assistant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6.  Real project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7.  Your notes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8.  Ship 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0" y="0"/>
            <a:ext cx="9144000" cy="10287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" y="2788920"/>
            <a:ext cx="77541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Workshop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85248" y="2633472"/>
            <a:ext cx="724204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>
                <a:solidFill>
                  <a:srgbClr val="666666"/>
                </a:solidFill>
                <a:latin typeface="Poppins"/>
              </a:rPr>
              <a:t>A chatbot has never seen your notes. Ask it about your homework and it will invent an answer - confidently.</a:t>
            </a:r>
          </a:p>
          <a:p>
            <a:pPr algn="l">
              <a:spcAft>
                <a:spcPts val="1400"/>
              </a:spcAft>
            </a:pPr>
            <a:r>
              <a:rPr sz="1800">
                <a:solidFill>
                  <a:srgbClr val="666666"/>
                </a:solidFill>
                <a:latin typeface="Poppins"/>
              </a:rPr>
              <a:t>Over 8 lessons you build an assistant that reads documents you choose, answers only from them, and names its source.</a:t>
            </a:r>
          </a:p>
          <a:p>
            <a:pPr algn="l">
              <a:spcAft>
                <a:spcPts val="1400"/>
              </a:spcAft>
            </a:pPr>
            <a:r>
              <a:rPr sz="1800">
                <a:solidFill>
                  <a:srgbClr val="666666"/>
                </a:solidFill>
                <a:latin typeface="Poppins"/>
              </a:rPr>
              <a:t>And says “that isn’t in your documents” when it isn’t. That refusal is the hard part, and the whole point.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4864"/>
            <a:ext cx="18288000" cy="2084831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38144" y="667512"/>
            <a:ext cx="1142085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>
                <a:solidFill>
                  <a:srgbClr val="3627FC"/>
                </a:solidFill>
                <a:latin typeface="Poppins ExtraBold"/>
              </a:rPr>
              <a:t>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941831" y="3008376"/>
            <a:ext cx="5236464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2103" y="2907792"/>
            <a:ext cx="523646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90471" y="3557016"/>
            <a:ext cx="413918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>
                <a:solidFill>
                  <a:srgbClr val="434343"/>
                </a:solidFill>
                <a:latin typeface="Poppins ExtraBold"/>
              </a:rPr>
              <a:t>Set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0471" y="4379976"/>
            <a:ext cx="413918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434343"/>
                </a:solidFill>
                <a:latin typeface="Poppins"/>
              </a:rPr>
              <a:t>Python, VS Code, your keys. Work lives in your shared folder.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25767" y="3008376"/>
            <a:ext cx="5236464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16039" y="2907792"/>
            <a:ext cx="523646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74407" y="3557016"/>
            <a:ext cx="413918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>
                <a:solidFill>
                  <a:srgbClr val="434343"/>
                </a:solidFill>
                <a:latin typeface="Poppins ExtraBold"/>
              </a:rPr>
              <a:t>First AI 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74407" y="4379976"/>
            <a:ext cx="413918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434343"/>
                </a:solidFill>
                <a:latin typeface="Poppins"/>
              </a:rPr>
              <a:t>Send a message to Claude. Look at what comes back.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109703" y="3008376"/>
            <a:ext cx="5236464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999976" y="2907792"/>
            <a:ext cx="523646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58343" y="3557016"/>
            <a:ext cx="413918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>
                <a:solidFill>
                  <a:srgbClr val="434343"/>
                </a:solidFill>
                <a:latin typeface="Poppins ExtraBold"/>
              </a:rPr>
              <a:t>System prompts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58343" y="4379976"/>
            <a:ext cx="413918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434343"/>
                </a:solidFill>
                <a:latin typeface="Poppins"/>
              </a:rPr>
              <a:t>Give the model a job. One question, three assistants.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33799" y="6428232"/>
            <a:ext cx="5236464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24071" y="6327648"/>
            <a:ext cx="523646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82439" y="6976872"/>
            <a:ext cx="413918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>
                <a:solidFill>
                  <a:srgbClr val="434343"/>
                </a:solidFill>
                <a:latin typeface="Poppins ExtraBold"/>
              </a:rPr>
              <a:t>Make it obey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2439" y="7799832"/>
            <a:ext cx="413918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434343"/>
                </a:solidFill>
                <a:latin typeface="Poppins"/>
              </a:rPr>
              <a:t>Length, format, language - then make it refuse.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17736" y="6428232"/>
            <a:ext cx="5236464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08008" y="6327648"/>
            <a:ext cx="523646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66376" y="6976872"/>
            <a:ext cx="413918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>
                <a:solidFill>
                  <a:srgbClr val="434343"/>
                </a:solidFill>
                <a:latin typeface="Poppins ExtraBold"/>
              </a:rPr>
              <a:t>Swap the company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66376" y="7799832"/>
            <a:ext cx="413918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434343"/>
                </a:solidFill>
                <a:latin typeface="Poppins"/>
              </a:rPr>
              <a:t>Change one line. Same code, different AI.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0" y="0"/>
            <a:ext cx="9144000" cy="10287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" y="3849624"/>
            <a:ext cx="5961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>
                <a:solidFill>
                  <a:srgbClr val="666666"/>
                </a:solidFill>
                <a:latin typeface="Poppins Medium"/>
              </a:rPr>
              <a:t>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4572000"/>
            <a:ext cx="77541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85248" y="3108960"/>
            <a:ext cx="7242048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Everything is installed. You are connecting pieces, not installing them.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Python lives on the laptop. Your work lives in your shared folder - you may be at a different Mac next lesson.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Two keys in .env: one answers, one searches.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Pick the kernel in every notebook. The #1 source of errors all workshop.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287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0" y="3849624"/>
            <a:ext cx="5961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>
                <a:solidFill>
                  <a:srgbClr val="666666"/>
                </a:solidFill>
                <a:latin typeface="Poppins Medium"/>
              </a:rPr>
              <a:t>Step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00"/>
            <a:ext cx="77541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System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108960"/>
            <a:ext cx="7242048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SYSTEM - written by you, the programmer. The user never sees it.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HUMAN - what the user actually typed.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That split is why a chatbot stays polite whatever you type at it.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Same model, same question, three system prompts → three different assistants.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3657600"/>
            <a:ext cx="1463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>
                <a:solidFill>
                  <a:srgbClr val="3627FC"/>
                </a:solidFill>
                <a:latin typeface="Poppins ExtraBold"/>
              </a:rPr>
              <a:t>“I only answer questions about weather.”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6949440"/>
            <a:ext cx="1280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oppins"/>
              </a:rPr>
              <a:t>One paragraph of English. No Python. In Lesson 5, this is what makes your assistant trustworthy.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0" y="0"/>
            <a:ext cx="9144000" cy="10287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" y="3849624"/>
            <a:ext cx="5961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>
                <a:solidFill>
                  <a:srgbClr val="666666"/>
                </a:solidFill>
                <a:latin typeface="Poppins Medium"/>
              </a:rPr>
              <a:t>Homework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4572000"/>
            <a:ext cx="77541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Bring your own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85248" y="3108960"/>
            <a:ext cx="7242048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3 to 10 of your own .txt or .md files.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Revision notes, a subject you study, the rules of a game. Armenian, English or both.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Shared storage is visible to everyone — general subjects only, nothing personal.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