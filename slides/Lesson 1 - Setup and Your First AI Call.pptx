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28"/>
    <p:sldId id="264" r:id="rId29"/>
    <p:sldId id="265" r:id="rId30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4747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>
                <a:solidFill>
                  <a:srgbClr val="3627FC"/>
                </a:solidFill>
                <a:latin typeface="Poppins ExtraBold"/>
              </a:rPr>
              <a:t>AI</a:t>
            </a:r>
          </a:p>
          <a:p>
            <a:pPr algn="l"/>
            <a:r>
              <a:rPr sz="6000">
                <a:solidFill>
                  <a:srgbClr val="3627FC"/>
                </a:solidFill>
                <a:latin typeface="Poppins ExtraBold"/>
              </a:rPr>
              <a:t>Workshop: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035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>
                <a:solidFill>
                  <a:srgbClr val="666666"/>
                </a:solidFill>
                <a:latin typeface="Poppins Medium"/>
              </a:rPr>
              <a:t>Level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1 of 8  ·  Setup and Your First AI 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" y="8229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Where we are 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19" y="3154679"/>
            <a:ext cx="10019211" cy="5669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3218687"/>
            <a:ext cx="100192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  <a:latin typeface="Poppins Medium"/>
              </a:rPr>
              <a:t>EXPLORE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41034" y="3154679"/>
            <a:ext cx="1554480" cy="5669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41034" y="3218687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  <a:latin typeface="Poppins Medium"/>
              </a:rPr>
              <a:t>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57217" y="3154679"/>
            <a:ext cx="3670662" cy="5669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57217" y="3218687"/>
            <a:ext cx="36706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  <a:latin typeface="Poppins Medium"/>
              </a:rPr>
              <a:t>FINISH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5093207"/>
            <a:ext cx="14813280" cy="5486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" y="42519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Your first AI call, and system prompts</a:t>
            </a:r>
          </a:p>
        </p:txBody>
      </p:sp>
      <p:sp>
        <p:nvSpPr>
          <p:cNvPr id="14" name="Oval 13"/>
          <p:cNvSpPr/>
          <p:nvPr/>
        </p:nvSpPr>
        <p:spPr>
          <a:xfrm>
            <a:off x="3487782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6342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1982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Why AI 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9102" y="6217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Hallucination, and why pasting everything fails</a:t>
            </a:r>
          </a:p>
        </p:txBody>
      </p:sp>
      <p:sp>
        <p:nvSpPr>
          <p:cNvPr id="18" name="Oval 17"/>
          <p:cNvSpPr/>
          <p:nvPr/>
        </p:nvSpPr>
        <p:spPr>
          <a:xfrm>
            <a:off x="5603965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2525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8165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5285" y="42519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Splitting documents so they can be searched</a:t>
            </a:r>
          </a:p>
        </p:txBody>
      </p:sp>
      <p:sp>
        <p:nvSpPr>
          <p:cNvPr id="22" name="Oval 21"/>
          <p:cNvSpPr/>
          <p:nvPr/>
        </p:nvSpPr>
        <p:spPr>
          <a:xfrm>
            <a:off x="7720148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708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4348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Embeddings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1468" y="6217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Turning meaning into numbers you can compare</a:t>
            </a:r>
          </a:p>
        </p:txBody>
      </p:sp>
      <p:sp>
        <p:nvSpPr>
          <p:cNvPr id="26" name="Oval 25"/>
          <p:cNvSpPr/>
          <p:nvPr/>
        </p:nvSpPr>
        <p:spPr>
          <a:xfrm>
            <a:off x="9836331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4891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0531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The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7651" y="42519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Retrieval + prompt = grounded answers</a:t>
            </a:r>
          </a:p>
        </p:txBody>
      </p:sp>
      <p:sp>
        <p:nvSpPr>
          <p:cNvPr id="30" name="Oval 29"/>
          <p:cNvSpPr/>
          <p:nvPr/>
        </p:nvSpPr>
        <p:spPr>
          <a:xfrm>
            <a:off x="11952514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61074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66714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Real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3834" y="6217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Out of the notebook, into Python files</a:t>
            </a:r>
          </a:p>
        </p:txBody>
      </p:sp>
      <p:sp>
        <p:nvSpPr>
          <p:cNvPr id="34" name="Oval 33"/>
          <p:cNvSpPr/>
          <p:nvPr/>
        </p:nvSpPr>
        <p:spPr>
          <a:xfrm>
            <a:off x="14068697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977257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82897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Your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00017" y="42519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Your own documents, and fixing what goes wrong</a:t>
            </a:r>
          </a:p>
        </p:txBody>
      </p:sp>
      <p:sp>
        <p:nvSpPr>
          <p:cNvPr id="38" name="Oval 37"/>
          <p:cNvSpPr/>
          <p:nvPr/>
        </p:nvSpPr>
        <p:spPr>
          <a:xfrm>
            <a:off x="16184880" y="4754879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0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99080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34343"/>
                </a:solidFill>
                <a:latin typeface="Poppins ExtraBold"/>
              </a:rPr>
              <a:t>Ship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16200" y="6217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  <a:latin typeface="Poppins"/>
              </a:rPr>
              <a:t>Measure, tune, and show what you built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" y="850392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Poppins Medium"/>
              </a:rPr>
              <a:t>8 lessons · 2 hours each · you finish with a program that knows what you know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Setup</a:t>
            </a:r>
          </a:p>
        </p:txBody>
      </p:sp>
      <p:sp>
        <p:nvSpPr>
          <p:cNvPr id="5" name="Oval 4"/>
          <p:cNvSpPr/>
          <p:nvPr/>
        </p:nvSpPr>
        <p:spPr>
          <a:xfrm>
            <a:off x="1453895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Nothing yet - this is where it starts.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Your first AI call, and system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2.  Why AI lies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3.  Chunking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4.  Embeddings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5.  The assistant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6.  Real project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2788920"/>
            <a:ext cx="7754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Workshop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85248" y="2633472"/>
            <a:ext cx="724204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>
                <a:solidFill>
                  <a:srgbClr val="666666"/>
                </a:solidFill>
                <a:latin typeface="Poppins"/>
              </a:rPr>
              <a:t>Ask a chatbot about your homework and it answers confidently - and sometimes invents the answer completely. It has never seen your notes.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666666"/>
                </a:solidFill>
                <a:latin typeface="Poppins"/>
              </a:rPr>
              <a:t>Over 8 lessons you will build an assistant that reads documents YOU choose, answers only from them, and names the file each answer came from.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666666"/>
                </a:solidFill>
                <a:latin typeface="Poppins"/>
              </a:rPr>
              <a:t>And when you ask something your notes do not cover, it will say so instead of guessing. Getting a computer to admit what it does not know is the hard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2" y="3008376"/>
            <a:ext cx="8083296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2907792"/>
            <a:ext cx="8083296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648456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Set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471416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Python, VS Code and your keys. Your work lives in your shared folder.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3008376"/>
            <a:ext cx="8083296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62872" y="2907792"/>
            <a:ext cx="8083296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3648456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First AI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4471416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Send a message to Claude and look at what actually comes 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6428232"/>
            <a:ext cx="8083296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" y="6327648"/>
            <a:ext cx="8083296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1" y="7068312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System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789127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Give the model a job. One question, three different assistants.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6428232"/>
            <a:ext cx="8083296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62872" y="6327648"/>
            <a:ext cx="8083296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7068312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Make it obey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7891272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Control length, format and language - then make it refuse.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Everything is already installed - you are connecting pieces, not installing them.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Python lives on the laptop. YOUR WORK lives in your shared folder, because you may be at a different Mac next lesson.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Two keys go in your .env file: one answers questions, one searches your notes.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Pick the kernel in every notebook you open. This is the #1 source of errors all workshop.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System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Every message has a role. SYSTEM is written by you, the programmer, and the user never sees it. HUMAN is what the user typed.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That separation is why a chatbot stays polite no matter what you type at it.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Same model, same question, three different system prompts - three completely different assistants.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“I only answer questions about weather.”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One paragraph of English turned a confident liar into something you can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Bring your own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3 to 10 of your own .txt or .md files.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Revision notes, a subject you study, the rules of a game you play, a wiki you exported. Armenian, English or both.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Shared storage is visible to everyone - bring notes on a general subject, and keep personal things out of the workshop folder.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