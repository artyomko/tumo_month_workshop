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2"/>
    <p:sldId id="257" r:id="rId11"/>
    <p:sldId id="258" r:id="rId10"/>
    <p:sldId id="259" r:id="rId9"/>
    <p:sldId id="260" r:id="rId8"/>
    <p:sldId id="261" r:id="rId7"/>
    <p:sldId id="262" r:id="rId6"/>
    <p:sldId id="263" r:id="rId28"/>
  </p:sldIdLst>
  <p:sldSz cy="10287000" cx="18288000"/>
  <p:notesSz cx="6858000" cy="9144000"/>
  <p:embeddedFontLst>
    <p:embeddedFont>
      <p:font typeface="Poppins"/>
      <p:regular r:id="rId13"/>
      <p:bold r:id="rId14"/>
      <p:italic r:id="rId15"/>
      <p:boldItalic r:id="rId16"/>
    </p:embeddedFont>
    <p:embeddedFont>
      <p:font typeface="Poppins Medium"/>
      <p:regular r:id="rId17"/>
      <p:bold r:id="rId18"/>
      <p:italic r:id="rId19"/>
      <p:boldItalic r:id="rId20"/>
    </p:embeddedFont>
    <p:embeddedFont>
      <p:font typeface="Poppins SemiBold"/>
      <p:regular r:id="rId21"/>
      <p:bold r:id="rId22"/>
      <p:italic r:id="rId23"/>
      <p:boldItalic r:id="rId24"/>
    </p:embeddedFont>
    <p:embeddedFont>
      <p:font typeface="Poppins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760">
          <p15:clr>
            <a:srgbClr val="747775"/>
          </p15:clr>
        </p15:guide>
        <p15:guide id="2" orient="horz" pos="3240">
          <p15:clr>
            <a:srgbClr val="747775"/>
          </p15:clr>
        </p15:guide>
      </p15:sldGuideLst>
    </p:ext>
    <p:ext uri="GoogleSlidesCustomDataVersion2">
      <go:slidesCustomData xmlns:go="http://customooxmlschemas.google.com/" r:id="rId27" roundtripDataSignature="AMtx7mikcC1XCQqB7SploIcIGk0JnEci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/>
        <p:guide pos="324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slide" Target="slides/slide1.xml"/><Relationship Id="rId13" Type="http://schemas.openxmlformats.org/officeDocument/2006/relationships/font" Target="fonts/Poppins-regular.fntdata"/><Relationship Id="rId14" Type="http://schemas.openxmlformats.org/officeDocument/2006/relationships/font" Target="fonts/Poppins-bold.fntdata"/><Relationship Id="rId15" Type="http://schemas.openxmlformats.org/officeDocument/2006/relationships/font" Target="fonts/Poppins-italic.fntdata"/><Relationship Id="rId16" Type="http://schemas.openxmlformats.org/officeDocument/2006/relationships/font" Target="fonts/Poppins-boldItalic.fntdata"/><Relationship Id="rId17" Type="http://schemas.openxmlformats.org/officeDocument/2006/relationships/font" Target="fonts/PoppinsMedium-regular.fntdata"/><Relationship Id="rId18" Type="http://schemas.openxmlformats.org/officeDocument/2006/relationships/font" Target="fonts/PoppinsMedium-bold.fntdata"/><Relationship Id="rId19" Type="http://schemas.openxmlformats.org/officeDocument/2006/relationships/font" Target="fonts/PoppinsMedium-italic.fntdata"/><Relationship Id="rId20" Type="http://schemas.openxmlformats.org/officeDocument/2006/relationships/font" Target="fonts/PoppinsMedium-boldItalic.fntdata"/><Relationship Id="rId21" Type="http://schemas.openxmlformats.org/officeDocument/2006/relationships/font" Target="fonts/PoppinsSemiBold-regular.fntdata"/><Relationship Id="rId22" Type="http://schemas.openxmlformats.org/officeDocument/2006/relationships/font" Target="fonts/PoppinsSemiBold-bold.fntdata"/><Relationship Id="rId23" Type="http://schemas.openxmlformats.org/officeDocument/2006/relationships/font" Target="fonts/PoppinsSemiBold-italic.fntdata"/><Relationship Id="rId24" Type="http://schemas.openxmlformats.org/officeDocument/2006/relationships/font" Target="fonts/PoppinsSemiBold-boldItalic.fntdata"/><Relationship Id="rId25" Type="http://schemas.openxmlformats.org/officeDocument/2006/relationships/font" Target="fonts/PoppinsExtraBold-bold.fntdata"/><Relationship Id="rId26" Type="http://schemas.openxmlformats.org/officeDocument/2006/relationships/font" Target="fonts/PoppinsExtraBold-boldItalic.fntdata"/><Relationship Id="rId27" Type="http://customschemas.google.com/relationships/presentationmetadata" Target="metadata"/><Relationship Id="rId2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ctrTitle"/>
          </p:nvPr>
        </p:nvSpPr>
        <p:spPr>
          <a:xfrm>
            <a:off x="623417" y="1489150"/>
            <a:ext cx="170412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9pPr>
          </a:lstStyle>
          <a:p/>
        </p:txBody>
      </p:sp>
      <p:sp>
        <p:nvSpPr>
          <p:cNvPr id="11" name="Google Shape;11;p10"/>
          <p:cNvSpPr txBox="1"/>
          <p:nvPr>
            <p:ph idx="1" type="subTitle"/>
          </p:nvPr>
        </p:nvSpPr>
        <p:spPr>
          <a:xfrm>
            <a:off x="623400" y="5668250"/>
            <a:ext cx="17041200" cy="15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2" name="Google Shape;12;p1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15" name="Google Shape;15;p11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16" name="Google Shape;16;p1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type="title"/>
          </p:nvPr>
        </p:nvSpPr>
        <p:spPr>
          <a:xfrm>
            <a:off x="623400" y="4301700"/>
            <a:ext cx="17041200" cy="16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9" name="Google Shape;19;p1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3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2" name="Google Shape;22;p13"/>
          <p:cNvSpPr txBox="1"/>
          <p:nvPr>
            <p:ph idx="1" type="body"/>
          </p:nvPr>
        </p:nvSpPr>
        <p:spPr>
          <a:xfrm>
            <a:off x="6234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3" name="Google Shape;23;p13"/>
          <p:cNvSpPr txBox="1"/>
          <p:nvPr>
            <p:ph idx="2" type="body"/>
          </p:nvPr>
        </p:nvSpPr>
        <p:spPr>
          <a:xfrm>
            <a:off x="96648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4" name="Google Shape;24;p13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7" name="Google Shape;27;p1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0" name="Google Shape;30;p15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31" name="Google Shape;31;p15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/>
          <p:nvPr>
            <p:ph type="title"/>
          </p:nvPr>
        </p:nvSpPr>
        <p:spPr>
          <a:xfrm>
            <a:off x="980500" y="900300"/>
            <a:ext cx="12735600" cy="81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34" name="Google Shape;34;p1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/>
          <p:nvPr/>
        </p:nvSpPr>
        <p:spPr>
          <a:xfrm>
            <a:off x="9144000" y="-25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7"/>
          <p:cNvSpPr txBox="1"/>
          <p:nvPr>
            <p:ph type="title"/>
          </p:nvPr>
        </p:nvSpPr>
        <p:spPr>
          <a:xfrm>
            <a:off x="531000" y="2466350"/>
            <a:ext cx="8090400" cy="29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38" name="Google Shape;38;p17"/>
          <p:cNvSpPr txBox="1"/>
          <p:nvPr>
            <p:ph idx="1" type="subTitle"/>
          </p:nvPr>
        </p:nvSpPr>
        <p:spPr>
          <a:xfrm>
            <a:off x="531000" y="5606150"/>
            <a:ext cx="8090400" cy="24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7"/>
          <p:cNvSpPr txBox="1"/>
          <p:nvPr>
            <p:ph idx="2" type="body"/>
          </p:nvPr>
        </p:nvSpPr>
        <p:spPr>
          <a:xfrm>
            <a:off x="9879000" y="1448150"/>
            <a:ext cx="7674000" cy="73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0" name="Google Shape;40;p1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623400" y="8461150"/>
            <a:ext cx="11997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/>
          <p:nvPr>
            <p:ph hasCustomPrompt="1" type="title"/>
          </p:nvPr>
        </p:nvSpPr>
        <p:spPr>
          <a:xfrm>
            <a:off x="623400" y="2212250"/>
            <a:ext cx="17041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9pPr>
          </a:lstStyle>
          <a:p>
            <a:r>
              <a:t>xx%</a:t>
            </a:r>
          </a:p>
        </p:txBody>
      </p:sp>
      <p:sp>
        <p:nvSpPr>
          <p:cNvPr id="46" name="Google Shape;46;p19"/>
          <p:cNvSpPr txBox="1"/>
          <p:nvPr>
            <p:ph idx="1" type="body"/>
          </p:nvPr>
        </p:nvSpPr>
        <p:spPr>
          <a:xfrm>
            <a:off x="623400" y="6304450"/>
            <a:ext cx="17041200" cy="26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64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64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64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064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064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064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064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0" y="347472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>
                <a:solidFill>
                  <a:srgbClr val="3627FC"/>
                </a:solidFill>
                <a:latin typeface="Poppins ExtraBold"/>
              </a:rPr>
              <a:t>AI</a:t>
            </a:r>
          </a:p>
          <a:p>
            <a:pPr algn="l"/>
            <a:r>
              <a:rPr sz="6000">
                <a:solidFill>
                  <a:srgbClr val="3627FC"/>
                </a:solidFill>
                <a:latin typeface="Poppins ExtraBold"/>
              </a:rPr>
              <a:t>Workshop: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035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>
                <a:solidFill>
                  <a:srgbClr val="666666"/>
                </a:solidFill>
                <a:latin typeface="Poppins Medium"/>
              </a:rPr>
              <a:t>Level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402336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>
                <a:solidFill>
                  <a:srgbClr val="3627FC"/>
                </a:solidFill>
                <a:latin typeface="Poppins ExtraBold"/>
              </a:rPr>
              <a:t>Build an AI That Reads Your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603504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Medium"/>
              </a:rPr>
              <a:t>Lesson 1 of 8  ·  Setup and Your First AI Call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2788920"/>
            <a:ext cx="77541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Workshop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85248" y="2633472"/>
            <a:ext cx="724204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>
                <a:solidFill>
                  <a:srgbClr val="666666"/>
                </a:solidFill>
                <a:latin typeface="Poppins"/>
              </a:rPr>
              <a:t>Ask a chatbot about your homework and it answers confidently - and sometimes invents the answer completely. It has never seen your notes.</a:t>
            </a:r>
          </a:p>
          <a:p>
            <a:pPr algn="l">
              <a:spcAft>
                <a:spcPts val="1400"/>
              </a:spcAft>
            </a:pPr>
            <a:r>
              <a:rPr sz="1800">
                <a:solidFill>
                  <a:srgbClr val="666666"/>
                </a:solidFill>
                <a:latin typeface="Poppins"/>
              </a:rPr>
              <a:t>Over 8 lessons you will build an assistant that reads documents YOU choose, answers only from them, and names the file each answer came from.</a:t>
            </a:r>
          </a:p>
          <a:p>
            <a:pPr algn="l">
              <a:spcAft>
                <a:spcPts val="1400"/>
              </a:spcAft>
            </a:pPr>
            <a:r>
              <a:rPr sz="1800">
                <a:solidFill>
                  <a:srgbClr val="666666"/>
                </a:solidFill>
                <a:latin typeface="Poppins"/>
              </a:rPr>
              <a:t>And when you ask something your notes do not cover, it will say so instead of guessing. Getting a computer to admit what it does not know is the hard part.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2" y="3008376"/>
            <a:ext cx="8083296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" y="2907792"/>
            <a:ext cx="8083296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21991" y="3648456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Set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21991" y="4471416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Python, VS Code and your keys. Your work lives in your shared folder.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9372600" y="3008376"/>
            <a:ext cx="8083296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62872" y="2907792"/>
            <a:ext cx="8083296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52760" y="3648456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First AI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4471416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Send a message to Claude and look at what actually comes back.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2" y="6428232"/>
            <a:ext cx="8083296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" y="6327648"/>
            <a:ext cx="8083296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21991" y="7068312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System prompts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1" y="7891272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Give the model a job. One question, three different assistants.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72600" y="6428232"/>
            <a:ext cx="8083296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62872" y="6327648"/>
            <a:ext cx="8083296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52760" y="7068312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Make it obey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52760" y="7891272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Control length, format and language - then make it refuse.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85248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Everything is already installed - you are connecting pieces, not installing them.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Python lives on the laptop. YOUR WORK lives in your shared folder, because you may be at a different Mac next lesson.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Two keys go in your .env file: one answers questions, one searches your notes.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Pick the kernel in every notebook you open. This is the #1 source of errors all workshop.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System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Every message has a role. SYSTEM is written by you, the programmer, and the user never sees it. HUMAN is what the user typed.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That separation is why a chatbot stays polite no matter what you type at it.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Same model, same question, three different system prompts - three completely different assistants.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3627FC"/>
                </a:solidFill>
                <a:latin typeface="Poppins ExtraBold"/>
              </a:rPr>
              <a:t>“I only answer questions about weather.”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94944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oppins"/>
              </a:rPr>
              <a:t>One paragraph of English turned a confident liar into something you can trust.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Homework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Bring your own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85248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3 to 10 of your own .txt or .md files.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Revision notes, a subject you study, the rules of a game you play, a wiki you exported. Armenian, English or both.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Shared storage is visible to everyone - bring notes on a general subject, and keep personal things out of the workshop folder.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