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</p:sldIdLst>
  <p:sldSz cy="10287000" cx="18288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oppins Medium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orient="horz" pos="324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kcC1XCQqB7SploIcIGk0JnEc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Medium-regular.fntdata"/><Relationship Id="rId18" Type="http://schemas.openxmlformats.org/officeDocument/2006/relationships/font" Target="fonts/PoppinsMedium-bold.fntdata"/><Relationship Id="rId19" Type="http://schemas.openxmlformats.org/officeDocument/2006/relationships/font" Target="fonts/PoppinsMedium-italic.fntdata"/><Relationship Id="rId20" Type="http://schemas.openxmlformats.org/officeDocument/2006/relationships/font" Target="fonts/PoppinsMedium-boldItalic.fntdata"/><Relationship Id="rId21" Type="http://schemas.openxmlformats.org/officeDocument/2006/relationships/font" Target="fonts/PoppinsSemiBold-regular.fntdata"/><Relationship Id="rId22" Type="http://schemas.openxmlformats.org/officeDocument/2006/relationships/font" Target="fonts/PoppinsSemiBold-bold.fntdata"/><Relationship Id="rId23" Type="http://schemas.openxmlformats.org/officeDocument/2006/relationships/font" Target="fonts/PoppinsSemiBold-italic.fntdata"/><Relationship Id="rId24" Type="http://schemas.openxmlformats.org/officeDocument/2006/relationships/font" Target="fonts/PoppinsSemiBold-boldItalic.fntdata"/><Relationship Id="rId25" Type="http://schemas.openxmlformats.org/officeDocument/2006/relationships/font" Target="fonts/PoppinsExtraBold-bold.fntdata"/><Relationship Id="rId26" Type="http://schemas.openxmlformats.org/officeDocument/2006/relationships/font" Target="fonts/PoppinsExtraBold-boldItalic.fntdata"/><Relationship Id="rId2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02336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>
                <a:solidFill>
                  <a:srgbClr val="3627FC"/>
                </a:solidFill>
                <a:latin typeface="Poppins ExtraBold"/>
              </a:rPr>
              <a:t>Build an AI That Reads Your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03504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Medium"/>
              </a:rPr>
              <a:t>Lesson 5 of 8  ·  Building the RAG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3566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64008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Lesson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325880"/>
            <a:ext cx="1463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The assistant</a:t>
            </a:r>
          </a:p>
        </p:txBody>
      </p:sp>
      <p:sp>
        <p:nvSpPr>
          <p:cNvPr id="5" name="Oval 4"/>
          <p:cNvSpPr/>
          <p:nvPr/>
        </p:nvSpPr>
        <p:spPr>
          <a:xfrm>
            <a:off x="1536192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652374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7782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768557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3965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84740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148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9918627" y="2688336"/>
            <a:ext cx="566928" cy="566928"/>
          </a:xfrm>
          <a:prstGeom prst="ellipse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6331" y="27980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Poppins ExtraBold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2117106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52514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14233289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68697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16349472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2062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1C59E"/>
                </a:solidFill>
                <a:latin typeface="Poppins ExtraBold"/>
              </a:rPr>
              <a:t>You already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1.  Your first AI call, and system prompts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2.  Why it makes things up, and why pasting everything fails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3.  Splitting documents so they can be searched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4.  Turning meaning into numbers you can compare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977639"/>
            <a:ext cx="64008" cy="4754880"/>
          </a:xfrm>
          <a:prstGeom prst="rect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37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200">
                <a:solidFill>
                  <a:srgbClr val="434343"/>
                </a:solidFill>
                <a:latin typeface="Poppins SemiBold"/>
              </a:rPr>
              <a:t>Retrieval + prompt = grounded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ExtraBold"/>
              </a:rPr>
              <a:t>Still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0" y="49377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6.  Real project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7.  Your notes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8.  Ship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90471" y="3557016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Assemble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1" y="4379976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Retrieve, join, and read the prompt you just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5767" y="3008376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6039" y="2907792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4407" y="3557016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4407" y="4379976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Name the files each answer came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9703" y="3008376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999976" y="2907792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58343" y="3557016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The refusal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58343" y="4379976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One sentence that stops it inventing.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3799" y="6428232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24071" y="6327648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2439" y="6976872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Tune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2439" y="7799832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Too few misses answers. Too many makes them vague.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17736" y="6428232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08008" y="6327648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6376" y="6976872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6376" y="7799832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Make follow-up questions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whole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Four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1.  Find the chunks closest in meaning to the question.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2.  Join them into one block of text.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3.  Paste that into the system prompt.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4.  Ask the model.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No model was retrained. We just decided well what to paste.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Print the prompt. Read it out loud.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That is RAG, in full, with nothing hidden.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What makes it trustworthy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“If the notes do not contain the answer, say exactly: that isn’t in your documents. Do not guess.”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That is it. One paragraph of English, no Python.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Find a question yours refuses — and one where the refusal fails. The second is more interesting.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Why follow-ups break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“Which of them is cheaper?” - it does not know what “them” means. Replay the earlier turns.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7736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008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7896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The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7896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Neither does the search. Glue the last two questions onto the query.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