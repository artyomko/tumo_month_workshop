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2"/>
    <p:sldId id="257" r:id="rId11"/>
    <p:sldId id="258" r:id="rId10"/>
    <p:sldId id="259" r:id="rId9"/>
    <p:sldId id="260" r:id="rId8"/>
    <p:sldId id="261" r:id="rId7"/>
    <p:sldId id="262" r:id="rId6"/>
  </p:sldIdLst>
  <p:sldSz cy="10287000" cx="18288000"/>
  <p:notesSz cx="6858000" cy="9144000"/>
  <p:embeddedFontLst>
    <p:embeddedFont>
      <p:font typeface="Poppins"/>
      <p:regular r:id="rId13"/>
      <p:bold r:id="rId14"/>
      <p:italic r:id="rId15"/>
      <p:boldItalic r:id="rId16"/>
    </p:embeddedFont>
    <p:embeddedFont>
      <p:font typeface="Poppins Medium"/>
      <p:regular r:id="rId17"/>
      <p:bold r:id="rId18"/>
      <p:italic r:id="rId19"/>
      <p:boldItalic r:id="rId20"/>
    </p:embeddedFont>
    <p:embeddedFont>
      <p:font typeface="Poppins SemiBold"/>
      <p:regular r:id="rId21"/>
      <p:bold r:id="rId22"/>
      <p:italic r:id="rId23"/>
      <p:boldItalic r:id="rId24"/>
    </p:embeddedFont>
    <p:embeddedFont>
      <p:font typeface="Poppins ExtraBold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760">
          <p15:clr>
            <a:srgbClr val="747775"/>
          </p15:clr>
        </p15:guide>
        <p15:guide id="2" orient="horz" pos="3240">
          <p15:clr>
            <a:srgbClr val="747775"/>
          </p15:clr>
        </p15:guide>
      </p15:sldGuideLst>
    </p:ext>
    <p:ext uri="GoogleSlidesCustomDataVersion2">
      <go:slidesCustomData xmlns:go="http://customooxmlschemas.google.com/" r:id="rId27" roundtripDataSignature="AMtx7mikcC1XCQqB7SploIcIGk0JnEci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0"/>
        <p:guide pos="3240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4.xml"/><Relationship Id="rId10" Type="http://schemas.openxmlformats.org/officeDocument/2006/relationships/slide" Target="slides/slide3.xml"/><Relationship Id="rId11" Type="http://schemas.openxmlformats.org/officeDocument/2006/relationships/slide" Target="slides/slide2.xml"/><Relationship Id="rId12" Type="http://schemas.openxmlformats.org/officeDocument/2006/relationships/slide" Target="slides/slide1.xml"/><Relationship Id="rId13" Type="http://schemas.openxmlformats.org/officeDocument/2006/relationships/font" Target="fonts/Poppins-regular.fntdata"/><Relationship Id="rId14" Type="http://schemas.openxmlformats.org/officeDocument/2006/relationships/font" Target="fonts/Poppins-bold.fntdata"/><Relationship Id="rId15" Type="http://schemas.openxmlformats.org/officeDocument/2006/relationships/font" Target="fonts/Poppins-italic.fntdata"/><Relationship Id="rId16" Type="http://schemas.openxmlformats.org/officeDocument/2006/relationships/font" Target="fonts/Poppins-boldItalic.fntdata"/><Relationship Id="rId17" Type="http://schemas.openxmlformats.org/officeDocument/2006/relationships/font" Target="fonts/PoppinsMedium-regular.fntdata"/><Relationship Id="rId18" Type="http://schemas.openxmlformats.org/officeDocument/2006/relationships/font" Target="fonts/PoppinsMedium-bold.fntdata"/><Relationship Id="rId19" Type="http://schemas.openxmlformats.org/officeDocument/2006/relationships/font" Target="fonts/PoppinsMedium-italic.fntdata"/><Relationship Id="rId20" Type="http://schemas.openxmlformats.org/officeDocument/2006/relationships/font" Target="fonts/PoppinsMedium-boldItalic.fntdata"/><Relationship Id="rId21" Type="http://schemas.openxmlformats.org/officeDocument/2006/relationships/font" Target="fonts/PoppinsSemiBold-regular.fntdata"/><Relationship Id="rId22" Type="http://schemas.openxmlformats.org/officeDocument/2006/relationships/font" Target="fonts/PoppinsSemiBold-bold.fntdata"/><Relationship Id="rId23" Type="http://schemas.openxmlformats.org/officeDocument/2006/relationships/font" Target="fonts/PoppinsSemiBold-italic.fntdata"/><Relationship Id="rId24" Type="http://schemas.openxmlformats.org/officeDocument/2006/relationships/font" Target="fonts/PoppinsSemiBold-boldItalic.fntdata"/><Relationship Id="rId25" Type="http://schemas.openxmlformats.org/officeDocument/2006/relationships/font" Target="fonts/PoppinsExtraBold-bold.fntdata"/><Relationship Id="rId26" Type="http://schemas.openxmlformats.org/officeDocument/2006/relationships/font" Target="fonts/PoppinsExtraBold-boldItalic.fntdata"/><Relationship Id="rId2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1" name="Google Shape;11;p10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2" name="Google Shape;12;p1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9" name="Google Shape;19;p1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3" name="Google Shape;23;p13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15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4" name="Google Shape;34;p1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38" name="Google Shape;38;p17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064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064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064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064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064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064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064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4023360"/>
            <a:ext cx="1463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>
                <a:solidFill>
                  <a:srgbClr val="3627FC"/>
                </a:solidFill>
                <a:latin typeface="Poppins ExtraBold"/>
              </a:rPr>
              <a:t>Build an AI That Reads Your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603504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666666"/>
                </a:solidFill>
                <a:latin typeface="Poppins Medium"/>
              </a:rPr>
              <a:t>Lesson 6 of 8  ·  From Notebook to Python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356616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" y="64008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>
                <a:solidFill>
                  <a:srgbClr val="666666"/>
                </a:solidFill>
                <a:latin typeface="Poppins Medium"/>
              </a:rPr>
              <a:t>Lesson 6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325880"/>
            <a:ext cx="1463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>
                <a:solidFill>
                  <a:srgbClr val="3627FC"/>
                </a:solidFill>
                <a:latin typeface="Poppins ExtraBold"/>
              </a:rPr>
              <a:t>Real project</a:t>
            </a:r>
          </a:p>
        </p:txBody>
      </p:sp>
      <p:sp>
        <p:nvSpPr>
          <p:cNvPr id="5" name="Oval 4"/>
          <p:cNvSpPr/>
          <p:nvPr/>
        </p:nvSpPr>
        <p:spPr>
          <a:xfrm>
            <a:off x="1536192" y="2770632"/>
            <a:ext cx="402336" cy="402336"/>
          </a:xfrm>
          <a:prstGeom prst="ellipse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Poppins ExtraBold"/>
              </a:rP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3652374" y="2770632"/>
            <a:ext cx="402336" cy="402336"/>
          </a:xfrm>
          <a:prstGeom prst="ellipse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7782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Poppins ExtraBold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5768557" y="2770632"/>
            <a:ext cx="402336" cy="402336"/>
          </a:xfrm>
          <a:prstGeom prst="ellipse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03965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Poppins ExtraBold"/>
              </a:rP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7884740" y="2770632"/>
            <a:ext cx="402336" cy="402336"/>
          </a:xfrm>
          <a:prstGeom prst="ellipse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0148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Poppins ExtraBold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10000923" y="2770632"/>
            <a:ext cx="402336" cy="402336"/>
          </a:xfrm>
          <a:prstGeom prst="ellipse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36331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Poppins ExtraBold"/>
              </a:rPr>
              <a:t>5</a:t>
            </a:r>
          </a:p>
        </p:txBody>
      </p:sp>
      <p:sp>
        <p:nvSpPr>
          <p:cNvPr id="15" name="Oval 14"/>
          <p:cNvSpPr/>
          <p:nvPr/>
        </p:nvSpPr>
        <p:spPr>
          <a:xfrm>
            <a:off x="12034810" y="2688336"/>
            <a:ext cx="566928" cy="566928"/>
          </a:xfrm>
          <a:prstGeom prst="ellipse">
            <a:avLst/>
          </a:prstGeom>
          <a:solidFill>
            <a:srgbClr val="362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52514" y="2798064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Poppins ExtraBold"/>
              </a:rPr>
              <a:t>6</a:t>
            </a:r>
          </a:p>
        </p:txBody>
      </p:sp>
      <p:sp>
        <p:nvSpPr>
          <p:cNvPr id="17" name="Oval 16"/>
          <p:cNvSpPr/>
          <p:nvPr/>
        </p:nvSpPr>
        <p:spPr>
          <a:xfrm>
            <a:off x="14233289" y="277063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68697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66666"/>
                </a:solidFill>
                <a:latin typeface="Poppins ExtraBold"/>
              </a:rPr>
              <a:t>7</a:t>
            </a:r>
          </a:p>
        </p:txBody>
      </p:sp>
      <p:sp>
        <p:nvSpPr>
          <p:cNvPr id="19" name="Oval 18"/>
          <p:cNvSpPr/>
          <p:nvPr/>
        </p:nvSpPr>
        <p:spPr>
          <a:xfrm>
            <a:off x="16349472" y="277063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184880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66666"/>
                </a:solidFill>
                <a:latin typeface="Poppins ExtraBold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420624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31C59E"/>
                </a:solidFill>
                <a:latin typeface="Poppins ExtraBold"/>
              </a:rPr>
              <a:t>You already know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93776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700">
                <a:solidFill>
                  <a:srgbClr val="434343"/>
                </a:solidFill>
                <a:latin typeface="Poppins"/>
              </a:rPr>
              <a:t>1.  Your first AI call, and system prompts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434343"/>
                </a:solidFill>
                <a:latin typeface="Poppins"/>
              </a:rPr>
              <a:t>2.  Why it makes things up, and why pasting everything fails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434343"/>
                </a:solidFill>
                <a:latin typeface="Poppins"/>
              </a:rPr>
              <a:t>3.  Splitting documents so they can be searched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434343"/>
                </a:solidFill>
                <a:latin typeface="Poppins"/>
              </a:rPr>
              <a:t>4.  Turning meaning into numbers you can compare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434343"/>
                </a:solidFill>
                <a:latin typeface="Poppins"/>
              </a:rPr>
              <a:t>5.  Retrieval + prompt = grounded answers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3977639"/>
            <a:ext cx="64008" cy="4754880"/>
          </a:xfrm>
          <a:prstGeom prst="rect">
            <a:avLst/>
          </a:prstGeom>
          <a:solidFill>
            <a:srgbClr val="362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42062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3627FC"/>
                </a:solidFill>
                <a:latin typeface="Poppins ExtraBold"/>
              </a:rPr>
              <a:t>Today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49377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2200">
                <a:solidFill>
                  <a:srgbClr val="434343"/>
                </a:solidFill>
                <a:latin typeface="Poppins SemiBold"/>
              </a:rPr>
              <a:t>Out of the notebook, into Python files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0" y="4206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666666"/>
                </a:solidFill>
                <a:latin typeface="Poppins ExtraBold"/>
              </a:rPr>
              <a:t>Still ahead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47520" y="4937760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700">
                <a:solidFill>
                  <a:srgbClr val="666666"/>
                </a:solidFill>
                <a:latin typeface="Poppins"/>
              </a:rPr>
              <a:t>7.  Your notes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666666"/>
                </a:solidFill>
                <a:latin typeface="Poppins"/>
              </a:rPr>
              <a:t>8.  Ship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"/>
            <a:ext cx="18288000" cy="2084831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38144" y="667512"/>
            <a:ext cx="1142085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>
                <a:solidFill>
                  <a:srgbClr val="3627FC"/>
                </a:solidFill>
                <a:latin typeface="Poppins ExtraBold"/>
              </a:rPr>
              <a:t>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941831" y="3008376"/>
            <a:ext cx="5236464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2103" y="2907792"/>
            <a:ext cx="5236464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90471" y="3557016"/>
            <a:ext cx="413918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>
                <a:solidFill>
                  <a:srgbClr val="434343"/>
                </a:solidFill>
                <a:latin typeface="Poppins ExtraBold"/>
              </a:rPr>
              <a:t>config.py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1" y="4379976"/>
            <a:ext cx="413918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434343"/>
                </a:solidFill>
                <a:latin typeface="Poppins"/>
              </a:rPr>
              <a:t>Every setting in one place. It does no work.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25767" y="3008376"/>
            <a:ext cx="5236464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16039" y="2907792"/>
            <a:ext cx="5236464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74407" y="3557016"/>
            <a:ext cx="413918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>
                <a:solidFill>
                  <a:srgbClr val="434343"/>
                </a:solidFill>
                <a:latin typeface="Poppins ExtraBold"/>
              </a:rPr>
              <a:t>ingest.py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74407" y="4379976"/>
            <a:ext cx="413918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434343"/>
                </a:solidFill>
                <a:latin typeface="Poppins"/>
              </a:rPr>
              <a:t>Documents → chunks → an index saved to disk.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109703" y="3008376"/>
            <a:ext cx="5236464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999976" y="2907792"/>
            <a:ext cx="5236464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58343" y="3557016"/>
            <a:ext cx="413918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>
                <a:solidFill>
                  <a:srgbClr val="434343"/>
                </a:solidFill>
                <a:latin typeface="Poppins ExtraBold"/>
              </a:rPr>
              <a:t>retriever.py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58343" y="4379976"/>
            <a:ext cx="413918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434343"/>
                </a:solidFill>
                <a:latin typeface="Poppins"/>
              </a:rPr>
              <a:t>Find the chunks. Knows nothing about AI.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33799" y="6428232"/>
            <a:ext cx="5236464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24071" y="6327648"/>
            <a:ext cx="5236464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82439" y="6976872"/>
            <a:ext cx="413918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>
                <a:solidFill>
                  <a:srgbClr val="434343"/>
                </a:solidFill>
                <a:latin typeface="Poppins ExtraBold"/>
              </a:rPr>
              <a:t>assistant.py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2439" y="7799832"/>
            <a:ext cx="413918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434343"/>
                </a:solidFill>
                <a:latin typeface="Poppins"/>
              </a:rPr>
              <a:t>The system prompt, and the answer.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17736" y="6428232"/>
            <a:ext cx="5236464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08008" y="6327648"/>
            <a:ext cx="5236464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66376" y="6976872"/>
            <a:ext cx="413918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>
                <a:solidFill>
                  <a:srgbClr val="434343"/>
                </a:solidFill>
                <a:latin typeface="Poppins ExtraBold"/>
              </a:rPr>
              <a:t>main.py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66376" y="7799832"/>
            <a:ext cx="413918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434343"/>
                </a:solidFill>
                <a:latin typeface="Poppins"/>
              </a:rPr>
              <a:t>Talk to the human. Then run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3657600"/>
            <a:ext cx="1463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3627FC"/>
                </a:solidFill>
                <a:latin typeface="Poppins ExtraBold"/>
              </a:rPr>
              <a:t>A notebook is a lab bench.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694944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>
                <a:solidFill>
                  <a:srgbClr val="666666"/>
                </a:solidFill>
                <a:latin typeface="Poppins"/>
              </a:rPr>
              <a:t>You hand someone the thing you built on it, not the bench.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" y="3849624"/>
            <a:ext cx="5961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>
                <a:solidFill>
                  <a:srgbClr val="666666"/>
                </a:solidFill>
                <a:latin typeface="Poppins Medium"/>
              </a:rPr>
              <a:t>The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4572000"/>
            <a:ext cx="77541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>
                <a:solidFill>
                  <a:srgbClr val="3627FC"/>
                </a:solidFill>
                <a:latin typeface="Poppins ExtraBold"/>
              </a:rPr>
              <a:t>Two programs, not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85248" y="3108960"/>
            <a:ext cx="7242048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Reopening the notebook recomputes every embedding before you can ask anything.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ingest.py is slow. You run it when your documents change.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main.py is fast. You run it constantly.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The index on disk is what sits between them.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287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3849624"/>
            <a:ext cx="5961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>
                <a:solidFill>
                  <a:srgbClr val="666666"/>
                </a:solidFill>
                <a:latin typeface="Poppins Medium"/>
              </a:rPr>
              <a:t>The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00"/>
            <a:ext cx="77541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>
                <a:solidFill>
                  <a:srgbClr val="3627FC"/>
                </a:solidFill>
                <a:latin typeface="Poppins ExtraBold"/>
              </a:rPr>
              <a:t>One sentence per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108960"/>
            <a:ext cx="7242048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If you cannot say what a file is for in one sentence, it is doing two jobs.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retriever.py must not import assistant.py. That is what lets you test searching almost for free.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Check after every file. Do not write all five and hope.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3657600"/>
            <a:ext cx="1463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3627FC"/>
                </a:solidFill>
                <a:latin typeface="Poppins ExtraBold"/>
              </a:rPr>
              <a:t>python main.py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694944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>
                <a:solidFill>
                  <a:srgbClr val="666666"/>
                </a:solidFill>
                <a:latin typeface="Poppins"/>
              </a:rPr>
              <a:t>A real program, from a terminal, with no notebook anywhere. Nobody leaves today until this runs.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