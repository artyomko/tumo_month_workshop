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2"/>
    <p:sldId id="257" r:id="rId11"/>
    <p:sldId id="258" r:id="rId10"/>
    <p:sldId id="259" r:id="rId9"/>
    <p:sldId id="260" r:id="rId8"/>
    <p:sldId id="261" r:id="rId7"/>
    <p:sldId id="262" r:id="rId6"/>
  </p:sldIdLst>
  <p:sldSz cy="10287000" cx="18288000"/>
  <p:notesSz cx="6858000" cy="9144000"/>
  <p:embeddedFontLst>
    <p:embeddedFont>
      <p:font typeface="Poppins"/>
      <p:regular r:id="rId13"/>
      <p:bold r:id="rId14"/>
      <p:italic r:id="rId15"/>
      <p:boldItalic r:id="rId16"/>
    </p:embeddedFont>
    <p:embeddedFont>
      <p:font typeface="Poppins Medium"/>
      <p:regular r:id="rId17"/>
      <p:bold r:id="rId18"/>
      <p:italic r:id="rId19"/>
      <p:boldItalic r:id="rId20"/>
    </p:embeddedFont>
    <p:embeddedFont>
      <p:font typeface="Poppins SemiBold"/>
      <p:regular r:id="rId21"/>
      <p:bold r:id="rId22"/>
      <p:italic r:id="rId23"/>
      <p:boldItalic r:id="rId24"/>
    </p:embeddedFont>
    <p:embeddedFont>
      <p:font typeface="Poppins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760">
          <p15:clr>
            <a:srgbClr val="747775"/>
          </p15:clr>
        </p15:guide>
        <p15:guide id="2" orient="horz" pos="3240">
          <p15:clr>
            <a:srgbClr val="747775"/>
          </p15:clr>
        </p15:guide>
      </p15:sldGuideLst>
    </p:ext>
    <p:ext uri="GoogleSlidesCustomDataVersion2">
      <go:slidesCustomData xmlns:go="http://customooxmlschemas.google.com/" r:id="rId27" roundtripDataSignature="AMtx7mikcC1XCQqB7SploIcIGk0JnEci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/>
        <p:guide pos="324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slide" Target="slides/slide1.xml"/><Relationship Id="rId13" Type="http://schemas.openxmlformats.org/officeDocument/2006/relationships/font" Target="fonts/Poppins-regular.fntdata"/><Relationship Id="rId14" Type="http://schemas.openxmlformats.org/officeDocument/2006/relationships/font" Target="fonts/Poppins-bold.fntdata"/><Relationship Id="rId15" Type="http://schemas.openxmlformats.org/officeDocument/2006/relationships/font" Target="fonts/Poppins-italic.fntdata"/><Relationship Id="rId16" Type="http://schemas.openxmlformats.org/officeDocument/2006/relationships/font" Target="fonts/Poppins-boldItalic.fntdata"/><Relationship Id="rId17" Type="http://schemas.openxmlformats.org/officeDocument/2006/relationships/font" Target="fonts/PoppinsMedium-regular.fntdata"/><Relationship Id="rId18" Type="http://schemas.openxmlformats.org/officeDocument/2006/relationships/font" Target="fonts/PoppinsMedium-bold.fntdata"/><Relationship Id="rId19" Type="http://schemas.openxmlformats.org/officeDocument/2006/relationships/font" Target="fonts/PoppinsMedium-italic.fntdata"/><Relationship Id="rId20" Type="http://schemas.openxmlformats.org/officeDocument/2006/relationships/font" Target="fonts/PoppinsMedium-boldItalic.fntdata"/><Relationship Id="rId21" Type="http://schemas.openxmlformats.org/officeDocument/2006/relationships/font" Target="fonts/PoppinsSemiBold-regular.fntdata"/><Relationship Id="rId22" Type="http://schemas.openxmlformats.org/officeDocument/2006/relationships/font" Target="fonts/PoppinsSemiBold-bold.fntdata"/><Relationship Id="rId23" Type="http://schemas.openxmlformats.org/officeDocument/2006/relationships/font" Target="fonts/PoppinsSemiBold-italic.fntdata"/><Relationship Id="rId24" Type="http://schemas.openxmlformats.org/officeDocument/2006/relationships/font" Target="fonts/PoppinsSemiBold-boldItalic.fntdata"/><Relationship Id="rId25" Type="http://schemas.openxmlformats.org/officeDocument/2006/relationships/font" Target="fonts/PoppinsExtraBold-bold.fntdata"/><Relationship Id="rId26" Type="http://schemas.openxmlformats.org/officeDocument/2006/relationships/font" Target="fonts/PoppinsExtraBold-boldItalic.fntdata"/><Relationship Id="rId2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ctrTitle"/>
          </p:nvPr>
        </p:nvSpPr>
        <p:spPr>
          <a:xfrm>
            <a:off x="623417" y="1489150"/>
            <a:ext cx="170412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9pPr>
          </a:lstStyle>
          <a:p/>
        </p:txBody>
      </p:sp>
      <p:sp>
        <p:nvSpPr>
          <p:cNvPr id="11" name="Google Shape;11;p10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2" name="Google Shape;12;p1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15" name="Google Shape;15;p11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16" name="Google Shape;16;p1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9" name="Google Shape;19;p1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2" name="Google Shape;22;p13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3" name="Google Shape;23;p13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4" name="Google Shape;24;p13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7" name="Google Shape;27;p1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0" name="Google Shape;30;p15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1" name="Google Shape;31;p1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/>
          <p:nvPr>
            <p:ph type="title"/>
          </p:nvPr>
        </p:nvSpPr>
        <p:spPr>
          <a:xfrm>
            <a:off x="980500" y="900300"/>
            <a:ext cx="12735600" cy="8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34" name="Google Shape;34;p1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/>
          <p:nvPr/>
        </p:nvSpPr>
        <p:spPr>
          <a:xfrm>
            <a:off x="9144000" y="-25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7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38" name="Google Shape;38;p17"/>
          <p:cNvSpPr txBox="1"/>
          <p:nvPr>
            <p:ph idx="1" type="subTitle"/>
          </p:nvPr>
        </p:nvSpPr>
        <p:spPr>
          <a:xfrm>
            <a:off x="531000" y="5606150"/>
            <a:ext cx="8090400" cy="24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7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0" name="Google Shape;40;p1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623400" y="8461150"/>
            <a:ext cx="11997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/>
          <p:nvPr>
            <p:ph hasCustomPrompt="1"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9pPr>
          </a:lstStyle>
          <a:p>
            <a:r>
              <a:t>xx%</a:t>
            </a:r>
          </a:p>
        </p:txBody>
      </p:sp>
      <p:sp>
        <p:nvSpPr>
          <p:cNvPr id="46" name="Google Shape;46;p19"/>
          <p:cNvSpPr txBox="1"/>
          <p:nvPr>
            <p:ph idx="1" type="body"/>
          </p:nvPr>
        </p:nvSpPr>
        <p:spPr>
          <a:xfrm>
            <a:off x="623400" y="6304450"/>
            <a:ext cx="17041200" cy="26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64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64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64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64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402336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>
                <a:solidFill>
                  <a:srgbClr val="3627FC"/>
                </a:solidFill>
                <a:latin typeface="Poppins ExtraBold"/>
              </a:rPr>
              <a:t>Build an AI That Reads Your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603504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Medium"/>
              </a:rPr>
              <a:t>Lesson 6 of 8  ·  From Notebook to Python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3566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64008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Lesson 6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325880"/>
            <a:ext cx="1463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Real project</a:t>
            </a:r>
          </a:p>
        </p:txBody>
      </p:sp>
      <p:sp>
        <p:nvSpPr>
          <p:cNvPr id="5" name="Oval 4"/>
          <p:cNvSpPr/>
          <p:nvPr/>
        </p:nvSpPr>
        <p:spPr>
          <a:xfrm>
            <a:off x="1536192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3652374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7782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768557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3965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7884740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0148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10000923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6331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12034810" y="2688336"/>
            <a:ext cx="566928" cy="566928"/>
          </a:xfrm>
          <a:prstGeom prst="ellipse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52514" y="279806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Poppins ExtraBold"/>
              </a:rPr>
              <a:t>6</a:t>
            </a:r>
          </a:p>
        </p:txBody>
      </p:sp>
      <p:sp>
        <p:nvSpPr>
          <p:cNvPr id="17" name="Oval 16"/>
          <p:cNvSpPr/>
          <p:nvPr/>
        </p:nvSpPr>
        <p:spPr>
          <a:xfrm>
            <a:off x="14233289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68697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16349472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18488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2062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1C59E"/>
                </a:solidFill>
                <a:latin typeface="Poppins ExtraBold"/>
              </a:rPr>
              <a:t>You already know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93776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1.  Your first AI call, and system prompts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2.  Why it makes things up, and why pasting everything fails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3.  Splitting documents so they can be searched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4.  Turning meaning into numbers you can compare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5.  Retrieval + prompt = grounded answers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3977639"/>
            <a:ext cx="64008" cy="4754880"/>
          </a:xfrm>
          <a:prstGeom prst="rect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42062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9377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200">
                <a:solidFill>
                  <a:srgbClr val="434343"/>
                </a:solidFill>
                <a:latin typeface="Poppins SemiBold"/>
              </a:rPr>
              <a:t>Out of the notebook, into Python files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0" y="4206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ExtraBold"/>
              </a:rPr>
              <a:t>Still ahead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0" y="493776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7.  Your notes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8.  Ship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1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90471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1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Every setting in one place. It does no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25767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6039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74407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ingest.py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4407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Documents → chunks → an index saved to disk.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9703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999976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58343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retriever.py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58343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Find the chunks. Knows nothing about AI.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3799" y="6428232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4071" y="6327648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82439" y="6976872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assistant.py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2439" y="7799832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The system prompt, and the answer.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17736" y="6428232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08008" y="6327648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66376" y="6976872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main.py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66376" y="7799832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Talk to the human. Then run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3627FC"/>
                </a:solidFill>
                <a:latin typeface="Poppins ExtraBold"/>
              </a:rPr>
              <a:t>A notebook is a lab bench.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94944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oppins"/>
              </a:rPr>
              <a:t>You hand someone the thing you built on it, not the bench.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Two programs, not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85248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Reopening the notebook recomputes every embedding before you can ask anything.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ingest.py is slow. You run it when your documents change.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main.py is fast. You run it constantly.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The index on disk is what sits between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The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One sentence per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If you cannot say what a file is for in one sentence, it is doing two jobs.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retriever.py must not import assistant.py. That is what lets you test searching for free.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Check after every file. Do not write all five and hope.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3627FC"/>
                </a:solidFill>
                <a:latin typeface="Poppins ExtraBold"/>
              </a:rPr>
              <a:t>python main.py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94944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oppins"/>
              </a:rPr>
              <a:t>A real program, from a terminal, with no notebook anywhere. Nobody leaves today until this runs.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